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91080"/>
            <a:ext cx="8228520" cy="15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B5C8C8-695C-427D-8E32-6DFC2CA379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91080"/>
            <a:ext cx="8228520" cy="15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188BC43-B97E-407F-AA64-27D494E78C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91080"/>
            <a:ext cx="8228520" cy="15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699BD2E-16E2-4AFD-836E-B03DAB35CE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91080"/>
            <a:ext cx="8228520" cy="15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6960" y="6247440"/>
            <a:ext cx="289764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5960" y="6247440"/>
            <a:ext cx="212940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66A445-491A-41DA-B3DD-0813B82A8CE2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9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247440"/>
            <a:ext cx="212940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91080"/>
            <a:ext cx="8228520" cy="15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126960" y="6247440"/>
            <a:ext cx="289764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6555960" y="6247440"/>
            <a:ext cx="212940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8E4B5A-2FBA-41FE-AF5F-5A71E980BD9A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457200" y="6247440"/>
            <a:ext cx="212940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91080"/>
            <a:ext cx="8228520" cy="15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Arial"/>
                <a:ea typeface="Arial"/>
              </a:rPr>
              <a:t>Образец заголовка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4064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  <a:ea typeface="Arial"/>
              </a:rPr>
              <a:t>Образец текста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808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Arial"/>
                <a:ea typeface="Arial"/>
              </a:rPr>
              <a:t>Второй уровень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556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  <a:ea typeface="Arial"/>
              </a:rPr>
              <a:t>Третий уровень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3" marL="18288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Arial"/>
              </a:rPr>
              <a:t>Четвертый уровень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28600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Arial"/>
              </a:rPr>
              <a:t>Пятый уровень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457200" y="6247440"/>
            <a:ext cx="212940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3126960" y="6247440"/>
            <a:ext cx="289764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6555960" y="6247440"/>
            <a:ext cx="212940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DF2014-AA0F-4A99-B949-F7F58D311C03}" type="slidenum">
              <a:rPr b="0" lang="ru-RU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320" spc="-1" strike="noStrike">
                <a:solidFill>
                  <a:srgbClr val="000000"/>
                </a:solidFill>
                <a:latin typeface="Arial"/>
                <a:ea typeface="Arial"/>
              </a:rPr>
              <a:t>Результаты работы</a:t>
            </a:r>
            <a:endParaRPr b="0" lang="ru-RU" sz="5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870" spc="-1" strike="noStrike">
                <a:solidFill>
                  <a:srgbClr val="000000"/>
                </a:solidFill>
                <a:latin typeface="Arial"/>
                <a:ea typeface="Arial"/>
              </a:rPr>
              <a:t>Павлов ,Буткевич,Кокин,</a:t>
            </a:r>
            <a:endParaRPr b="0" lang="ru-RU" sz="3870" spc="-1" strike="noStrike">
              <a:solidFill>
                <a:srgbClr val="000000"/>
              </a:solidFill>
              <a:latin typeface="Arial"/>
            </a:endParaRPr>
          </a:p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870" spc="-1" strike="noStrike">
                <a:solidFill>
                  <a:srgbClr val="000000"/>
                </a:solidFill>
                <a:latin typeface="Arial"/>
                <a:ea typeface="Arial"/>
              </a:rPr>
              <a:t>Шепелев,Светиков,Лаптев,</a:t>
            </a:r>
            <a:endParaRPr b="0" lang="ru-RU" sz="3870" spc="-1" strike="noStrike">
              <a:solidFill>
                <a:srgbClr val="000000"/>
              </a:solidFill>
              <a:latin typeface="Arial"/>
            </a:endParaRPr>
          </a:p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870" spc="-1" strike="noStrike">
                <a:solidFill>
                  <a:srgbClr val="000000"/>
                </a:solidFill>
                <a:latin typeface="Arial"/>
                <a:ea typeface="Arial"/>
              </a:rPr>
              <a:t>Дудченко,Кузнецов,Тарасона</a:t>
            </a:r>
            <a:endParaRPr b="0" lang="ru-RU" sz="3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520" cy="80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Данные по Горячему ключу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" name="Google Shape;34;p5" descr=""/>
          <p:cNvPicPr/>
          <p:nvPr/>
        </p:nvPicPr>
        <p:blipFill>
          <a:blip r:embed="rId2"/>
          <a:stretch/>
        </p:blipFill>
        <p:spPr>
          <a:xfrm>
            <a:off x="601560" y="1260000"/>
            <a:ext cx="8037720" cy="5032080"/>
          </a:xfrm>
          <a:prstGeom prst="rect">
            <a:avLst/>
          </a:prstGeom>
          <a:ln w="0">
            <a:noFill/>
          </a:ln>
        </p:spPr>
      </p:pic>
      <p:sp>
        <p:nvSpPr>
          <p:cNvPr id="25" name="Google Shape;35;p5"/>
          <p:cNvSpPr/>
          <p:nvPr/>
        </p:nvSpPr>
        <p:spPr>
          <a:xfrm>
            <a:off x="0" y="6412680"/>
            <a:ext cx="3425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2BD1D20B-AFB0-4E04-AAD2-A61ECB960C7A}" type="slidenum">
              <a:rPr b="0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40;p6"/>
          <p:cNvSpPr/>
          <p:nvPr/>
        </p:nvSpPr>
        <p:spPr>
          <a:xfrm>
            <a:off x="457560" y="273600"/>
            <a:ext cx="8228520" cy="80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Данные по Горячему ключу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Google Shape;41;p6" descr=""/>
          <p:cNvPicPr/>
          <p:nvPr/>
        </p:nvPicPr>
        <p:blipFill>
          <a:blip r:embed="rId2"/>
          <a:stretch/>
        </p:blipFill>
        <p:spPr>
          <a:xfrm>
            <a:off x="1620000" y="2880360"/>
            <a:ext cx="5758920" cy="32389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28" name="Google Shape;42;p6"/>
          <p:cNvGraphicFramePr/>
          <p:nvPr/>
        </p:nvGraphicFramePr>
        <p:xfrm>
          <a:off x="1080000" y="1856520"/>
          <a:ext cx="7210080" cy="691200"/>
        </p:xfrm>
        <a:graphic>
          <a:graphicData uri="http://schemas.openxmlformats.org/drawingml/2006/table">
            <a:tbl>
              <a:tblPr/>
              <a:tblGrid>
                <a:gridCol w="1356120"/>
                <a:gridCol w="703800"/>
                <a:gridCol w="1029600"/>
                <a:gridCol w="1029600"/>
                <a:gridCol w="1029600"/>
                <a:gridCol w="1029600"/>
                <a:gridCol w="1030320"/>
              </a:tblGrid>
              <a:tr h="346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оценка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количество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11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24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9" name="Google Shape;43;p6"/>
          <p:cNvSpPr/>
          <p:nvPr/>
        </p:nvSpPr>
        <p:spPr>
          <a:xfrm>
            <a:off x="180000" y="6300000"/>
            <a:ext cx="3425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E17DAC07-D23B-4F35-BF1F-9B493F465900}" type="slidenum">
              <a:rPr b="0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520" cy="6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Сравнение Краснодара и Горячего Ключа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Google Shape;49;p7" descr=""/>
          <p:cNvPicPr/>
          <p:nvPr/>
        </p:nvPicPr>
        <p:blipFill>
          <a:blip r:embed="rId2"/>
          <a:stretch/>
        </p:blipFill>
        <p:spPr>
          <a:xfrm>
            <a:off x="4320000" y="2281320"/>
            <a:ext cx="4679280" cy="2757960"/>
          </a:xfrm>
          <a:prstGeom prst="rect">
            <a:avLst/>
          </a:prstGeom>
          <a:ln w="0">
            <a:noFill/>
          </a:ln>
        </p:spPr>
      </p:pic>
      <p:sp>
        <p:nvSpPr>
          <p:cNvPr id="32" name="Google Shape;50;p7"/>
          <p:cNvSpPr/>
          <p:nvPr/>
        </p:nvSpPr>
        <p:spPr>
          <a:xfrm>
            <a:off x="5220000" y="1620000"/>
            <a:ext cx="323928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Краснодар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" name="Google Shape;51;p7" descr=""/>
          <p:cNvPicPr/>
          <p:nvPr/>
        </p:nvPicPr>
        <p:blipFill>
          <a:blip r:embed="rId3"/>
          <a:stretch/>
        </p:blipFill>
        <p:spPr>
          <a:xfrm>
            <a:off x="180360" y="2281320"/>
            <a:ext cx="4678920" cy="3238920"/>
          </a:xfrm>
          <a:prstGeom prst="rect">
            <a:avLst/>
          </a:prstGeom>
          <a:ln w="0">
            <a:noFill/>
          </a:ln>
        </p:spPr>
      </p:pic>
      <p:sp>
        <p:nvSpPr>
          <p:cNvPr id="34" name="Google Shape;52;p7"/>
          <p:cNvSpPr/>
          <p:nvPr/>
        </p:nvSpPr>
        <p:spPr>
          <a:xfrm>
            <a:off x="720000" y="1440000"/>
            <a:ext cx="341928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Горячий Ключ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Google Shape;53;p7"/>
          <p:cNvSpPr/>
          <p:nvPr/>
        </p:nvSpPr>
        <p:spPr>
          <a:xfrm>
            <a:off x="360000" y="6232680"/>
            <a:ext cx="3425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B2A58CDE-41C7-41E5-AAAE-C2DB75F57210}" type="slidenum">
              <a:rPr b="0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Уменьшение кол-ва значений выходной переменной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7" name="Google Shape;59;p8"/>
          <p:cNvGraphicFramePr/>
          <p:nvPr/>
        </p:nvGraphicFramePr>
        <p:xfrm>
          <a:off x="457200" y="1604520"/>
          <a:ext cx="8228880" cy="1385280"/>
        </p:xfrm>
        <a:graphic>
          <a:graphicData uri="http://schemas.openxmlformats.org/drawingml/2006/table">
            <a:tbl>
              <a:tblPr/>
              <a:tblGrid>
                <a:gridCol w="4114440"/>
                <a:gridCol w="4114800"/>
              </a:tblGrid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Значение переменной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Диапазон рейтинга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 (низкая)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[0;2)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 (средняя)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[2;4)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 (высокая)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[4;5]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666666"/>
                      </a:solidFill>
                      <a:prstDash val="solid"/>
                    </a:lnL>
                    <a:lnR w="9360">
                      <a:solidFill>
                        <a:srgbClr val="666666"/>
                      </a:solidFill>
                      <a:prstDash val="solid"/>
                    </a:lnR>
                    <a:lnT w="9360">
                      <a:solidFill>
                        <a:srgbClr val="666666"/>
                      </a:solidFill>
                      <a:prstDash val="solid"/>
                    </a:lnT>
                    <a:lnB w="936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38" name="Google Shape;60;p8"/>
          <p:cNvSpPr/>
          <p:nvPr/>
        </p:nvSpPr>
        <p:spPr>
          <a:xfrm>
            <a:off x="180000" y="6120000"/>
            <a:ext cx="3425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CA4808FB-CC15-40D6-91FE-143461697975}" type="slidenum">
              <a:rPr b="0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520" cy="44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Кластерный анализ правил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" name="Google Shape;66;p9" descr=""/>
          <p:cNvPicPr/>
          <p:nvPr/>
        </p:nvPicPr>
        <p:blipFill>
          <a:blip r:embed="rId2"/>
          <a:stretch/>
        </p:blipFill>
        <p:spPr>
          <a:xfrm>
            <a:off x="485280" y="813240"/>
            <a:ext cx="8154000" cy="5666040"/>
          </a:xfrm>
          <a:prstGeom prst="rect">
            <a:avLst/>
          </a:prstGeom>
          <a:ln w="0">
            <a:noFill/>
          </a:ln>
        </p:spPr>
      </p:pic>
      <p:sp>
        <p:nvSpPr>
          <p:cNvPr id="41" name="Google Shape;67;p9"/>
          <p:cNvSpPr/>
          <p:nvPr/>
        </p:nvSpPr>
        <p:spPr>
          <a:xfrm>
            <a:off x="180000" y="6430680"/>
            <a:ext cx="3425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604C8ABF-1810-457F-B86C-C7D09FCC14E0}" type="slidenum">
              <a:rPr b="0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520" cy="44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Приложение в работе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Google Shape;67;p 1"/>
          <p:cNvSpPr/>
          <p:nvPr/>
        </p:nvSpPr>
        <p:spPr>
          <a:xfrm>
            <a:off x="180000" y="6430680"/>
            <a:ext cx="3425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0B085703-32E2-4537-B9E1-46B5EF4AC709}" type="slidenum">
              <a:rPr b="0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2"/>
          <a:stretch/>
        </p:blipFill>
        <p:spPr>
          <a:xfrm>
            <a:off x="180000" y="1009800"/>
            <a:ext cx="8640000" cy="3670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520" cy="44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Приложение в работе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Google Shape;67;p 2"/>
          <p:cNvSpPr/>
          <p:nvPr/>
        </p:nvSpPr>
        <p:spPr>
          <a:xfrm>
            <a:off x="180000" y="6430680"/>
            <a:ext cx="3425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97357B8F-D1BA-4F2A-A8AE-50CA837B2D15}" type="slidenum">
              <a:rPr b="0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2"/>
          <a:stretch/>
        </p:blipFill>
        <p:spPr>
          <a:xfrm>
            <a:off x="900000" y="1080000"/>
            <a:ext cx="6162840" cy="294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520" cy="44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Ошибки допущенные в ходе работы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Google Shape;67;p 3"/>
          <p:cNvSpPr/>
          <p:nvPr/>
        </p:nvSpPr>
        <p:spPr>
          <a:xfrm>
            <a:off x="180000" y="6430680"/>
            <a:ext cx="3425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E2CDB639-FD2A-4E3A-8272-6C319BA3A0EA}" type="slidenum">
              <a:rPr b="0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540000" y="1440000"/>
            <a:ext cx="8280000" cy="45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2000" spc="-1" strike="noStrike">
                <a:solidFill>
                  <a:srgbClr val="000000"/>
                </a:solidFill>
                <a:latin typeface="Times New Roman"/>
              </a:rPr>
              <a:t>1. Систематическая ошибка выжившего ( в ходе анализа заведений, данные собирались только по тем, которые работали на момент сбора данных, что привело к искажениям в виде снижения доли заведений с низкими показателями)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2000" spc="-1" strike="noStrike">
                <a:solidFill>
                  <a:srgbClr val="000000"/>
                </a:solidFill>
                <a:latin typeface="Times New Roman"/>
              </a:rPr>
              <a:t>2. Отсутствие разделения сетевых и не сетевых заведений ( сетевые заведения в меньшей степени подвержены ошибкам менеджмента, в то время как обычные заведения могут закрыться имея географически хорошее расположение , но плохой менеджмент).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560" y="113400"/>
            <a:ext cx="8228520" cy="44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Реализация правил на языке C# (правила 1-19)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Google Shape;73;p10"/>
          <p:cNvSpPr/>
          <p:nvPr/>
        </p:nvSpPr>
        <p:spPr>
          <a:xfrm>
            <a:off x="180000" y="6430680"/>
            <a:ext cx="3425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62C6D7F1-C6B4-4B06-AD3C-9FB672ABFD3D}" type="slidenum">
              <a:rPr b="0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Google Shape;74;p10" descr=""/>
          <p:cNvPicPr/>
          <p:nvPr/>
        </p:nvPicPr>
        <p:blipFill>
          <a:blip r:embed="rId2"/>
          <a:stretch/>
        </p:blipFill>
        <p:spPr>
          <a:xfrm>
            <a:off x="318600" y="559800"/>
            <a:ext cx="5721120" cy="3285720"/>
          </a:xfrm>
          <a:prstGeom prst="rect">
            <a:avLst/>
          </a:prstGeom>
          <a:ln w="0">
            <a:noFill/>
          </a:ln>
        </p:spPr>
      </p:pic>
      <p:pic>
        <p:nvPicPr>
          <p:cNvPr id="54" name="Google Shape;75;p10" descr=""/>
          <p:cNvPicPr/>
          <p:nvPr/>
        </p:nvPicPr>
        <p:blipFill>
          <a:blip r:embed="rId3"/>
          <a:stretch/>
        </p:blipFill>
        <p:spPr>
          <a:xfrm>
            <a:off x="318600" y="3904200"/>
            <a:ext cx="5492160" cy="2589480"/>
          </a:xfrm>
          <a:prstGeom prst="rect">
            <a:avLst/>
          </a:prstGeom>
          <a:ln w="0">
            <a:noFill/>
          </a:ln>
        </p:spPr>
      </p:pic>
      <p:pic>
        <p:nvPicPr>
          <p:cNvPr id="55" name="Google Shape;76;p10" descr=""/>
          <p:cNvPicPr/>
          <p:nvPr/>
        </p:nvPicPr>
        <p:blipFill>
          <a:blip r:embed="rId4"/>
          <a:stretch/>
        </p:blipFill>
        <p:spPr>
          <a:xfrm>
            <a:off x="6226560" y="559800"/>
            <a:ext cx="2740680" cy="214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81;p11" descr="image.jpe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ln w="0">
            <a:noFill/>
          </a:ln>
        </p:spPr>
      </p:pic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56760" y="237600"/>
            <a:ext cx="8229240" cy="52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Финансовая эффективность заведений Горячего Ключа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Google Shape;83;p11"/>
          <p:cNvSpPr/>
          <p:nvPr/>
        </p:nvSpPr>
        <p:spPr>
          <a:xfrm>
            <a:off x="3611880" y="896040"/>
            <a:ext cx="50288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Подтвержденные ИНН | период 2023–2025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Google Shape;84;p11"/>
          <p:cNvSpPr/>
          <p:nvPr/>
        </p:nvSpPr>
        <p:spPr>
          <a:xfrm>
            <a:off x="182880" y="1298520"/>
            <a:ext cx="4525920" cy="14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7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Ход работы:</a:t>
            </a:r>
            <a:endParaRPr b="0" lang="ru-RU" sz="13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2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Сопоставлены заведения с ИНН и карточками контрагентов.</a:t>
            </a:r>
            <a:endParaRPr b="0" lang="ru-RU" sz="122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2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Сведены показатели за 2023–2025 гг.: выручка, валовая прибыль, чистый результат и персонал.</a:t>
            </a:r>
            <a:endParaRPr b="0" lang="ru-RU" sz="122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2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Рассчитан показатель финансовой эффективности.</a:t>
            </a:r>
            <a:endParaRPr b="0" lang="ru-RU" sz="122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2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Итоговая выборка: 6 заведений — 2 максимальных, 2 средних, 2 минимальных.</a:t>
            </a:r>
            <a:endParaRPr b="0" lang="ru-RU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85;p11"/>
          <p:cNvSpPr/>
          <p:nvPr/>
        </p:nvSpPr>
        <p:spPr>
          <a:xfrm>
            <a:off x="4773240" y="1307520"/>
            <a:ext cx="4160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7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Лучшие показатели: Авокадо, RollBerry.</a:t>
            </a:r>
            <a:endParaRPr b="0" lang="ru-RU" sz="13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2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Средние показатели: Личи-пицца, Харчевня.</a:t>
            </a:r>
            <a:endParaRPr b="0" lang="ru-RU" sz="122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2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Минимальные показатели: Шустрый Лис, Старый Замок.</a:t>
            </a:r>
            <a:endParaRPr b="0" lang="ru-RU" sz="122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1" name="Google Shape;86;p11"/>
          <p:cNvGraphicFramePr/>
          <p:nvPr/>
        </p:nvGraphicFramePr>
        <p:xfrm>
          <a:off x="182880" y="2980800"/>
          <a:ext cx="8229240" cy="2633040"/>
        </p:xfrm>
        <a:graphic>
          <a:graphicData uri="http://schemas.openxmlformats.org/drawingml/2006/table">
            <a:tbl>
              <a:tblPr/>
              <a:tblGrid>
                <a:gridCol w="566640"/>
                <a:gridCol w="1005840"/>
                <a:gridCol w="1417320"/>
                <a:gridCol w="1005840"/>
                <a:gridCol w="777240"/>
                <a:gridCol w="777240"/>
                <a:gridCol w="777240"/>
                <a:gridCol w="777240"/>
                <a:gridCol w="502920"/>
                <a:gridCol w="621720"/>
              </a:tblGrid>
              <a:tr h="329040"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68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Группа</a:t>
                      </a:r>
                      <a:endParaRPr b="0" lang="ru-RU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e0d6c0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68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Заведение</a:t>
                      </a:r>
                      <a:endParaRPr b="0" lang="ru-RU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e0d6c0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68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Контрагент</a:t>
                      </a:r>
                      <a:endParaRPr b="0" lang="ru-RU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e0d6c0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68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ИНН</a:t>
                      </a:r>
                      <a:endParaRPr b="0" lang="ru-RU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e0d6c0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68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Выручка'25</a:t>
                      </a:r>
                      <a:endParaRPr b="0" lang="ru-RU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e0d6c0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68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Вал.</a:t>
                      </a:r>
                      <a:endParaRPr b="0" lang="ru-RU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68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прибыль</a:t>
                      </a:r>
                      <a:endParaRPr b="0" lang="ru-RU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e0d6c0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68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Чист.</a:t>
                      </a:r>
                      <a:endParaRPr b="0" lang="ru-RU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68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прибыль</a:t>
                      </a:r>
                      <a:endParaRPr b="0" lang="ru-RU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e0d6c0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68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Чист.</a:t>
                      </a:r>
                      <a:endParaRPr b="0" lang="ru-RU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68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убыток</a:t>
                      </a:r>
                      <a:endParaRPr b="0" lang="ru-RU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e0d6c0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68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Перс.</a:t>
                      </a:r>
                      <a:endParaRPr b="0" lang="ru-RU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e0d6c0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68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Эфф., %</a:t>
                      </a:r>
                      <a:endParaRPr b="0" lang="ru-RU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e0d6c0"/>
                    </a:solidFill>
                  </a:tcPr>
                </a:tc>
              </a:tr>
              <a:tr h="383760"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 макс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Авокадо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ИП Садретдинова Ю.И.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860324260016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31,2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9,4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8,2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12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95,0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</a:tr>
              <a:tr h="383760"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 макс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RollBerry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ИП Сидоренко А.А.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230501218595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28,7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8,1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7,3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95,0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</a:tr>
              <a:tr h="383760"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 сред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Личи-пицца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ИП Коденцева А.Ю.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230500289875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24,5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6,8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2,2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0,4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14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69,2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</a:tr>
              <a:tr h="383760"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 сред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Харчевня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ООО «Харчевня»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2305024313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131,8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29,6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40,0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11,9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22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54,2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</a:tr>
              <a:tr h="383760"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 мин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Шустрый Лис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ИП Шокарева В.А.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235310359481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12,9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3,2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0,4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0,8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-33,3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</a:tr>
              <a:tr h="383760"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 мин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Старый Замок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ООО «Старый Замок»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2305025099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18,5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3,8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1,1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2,4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16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  <a:tc>
                  <a:txBody>
                    <a:bodyPr lIns="27360" rIns="27360" tIns="1800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4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-37,1</a:t>
                      </a:r>
                      <a:endParaRPr b="0" lang="ru-RU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27360" marR="27360">
                    <a:lnL w="9360">
                      <a:solidFill>
                        <a:srgbClr val="8b7a5e"/>
                      </a:solidFill>
                      <a:prstDash val="solid"/>
                    </a:lnL>
                    <a:lnR w="9360">
                      <a:solidFill>
                        <a:srgbClr val="8b7a5e"/>
                      </a:solidFill>
                      <a:prstDash val="solid"/>
                    </a:lnR>
                    <a:lnT w="9360">
                      <a:solidFill>
                        <a:srgbClr val="8b7a5e"/>
                      </a:solidFill>
                      <a:prstDash val="solid"/>
                    </a:lnT>
                    <a:lnB w="9360">
                      <a:solidFill>
                        <a:srgbClr val="8b7a5e"/>
                      </a:solidFill>
                      <a:prstDash val="solid"/>
                    </a:lnB>
                    <a:solidFill>
                      <a:srgbClr val="faf8f1"/>
                    </a:solidFill>
                  </a:tcPr>
                </a:tc>
              </a:tr>
            </a:tbl>
          </a:graphicData>
        </a:graphic>
      </p:graphicFrame>
      <p:sp>
        <p:nvSpPr>
          <p:cNvPr id="62" name="Google Shape;87;p11"/>
          <p:cNvSpPr/>
          <p:nvPr/>
        </p:nvSpPr>
        <p:spPr>
          <a:xfrm>
            <a:off x="210240" y="5650920"/>
            <a:ext cx="42058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Финансовые значения указаны в млн ₽.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Google Shape;88;p11"/>
          <p:cNvSpPr/>
          <p:nvPr/>
        </p:nvSpPr>
        <p:spPr>
          <a:xfrm>
            <a:off x="530280" y="6085440"/>
            <a:ext cx="3428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7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93;p12" descr="image.jpe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ln w="0">
            <a:noFill/>
          </a:ln>
        </p:spPr>
      </p:pic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56760" y="237600"/>
            <a:ext cx="8229240" cy="52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Анализ финансовой эффективности предприятий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Google Shape;95;p12" descr="gk_efficiency_bar.png"/>
          <p:cNvPicPr/>
          <p:nvPr/>
        </p:nvPicPr>
        <p:blipFill>
          <a:blip r:embed="rId2"/>
          <a:stretch/>
        </p:blipFill>
        <p:spPr>
          <a:xfrm>
            <a:off x="173880" y="841320"/>
            <a:ext cx="4571640" cy="2541600"/>
          </a:xfrm>
          <a:prstGeom prst="rect">
            <a:avLst/>
          </a:prstGeom>
          <a:ln w="0">
            <a:noFill/>
          </a:ln>
        </p:spPr>
      </p:pic>
      <p:pic>
        <p:nvPicPr>
          <p:cNvPr id="67" name="Google Shape;96;p12" descr="gk_financial_result_line.png"/>
          <p:cNvPicPr/>
          <p:nvPr/>
        </p:nvPicPr>
        <p:blipFill>
          <a:blip r:embed="rId3"/>
          <a:stretch/>
        </p:blipFill>
        <p:spPr>
          <a:xfrm>
            <a:off x="4745880" y="2816280"/>
            <a:ext cx="4288320" cy="2541600"/>
          </a:xfrm>
          <a:prstGeom prst="rect">
            <a:avLst/>
          </a:prstGeom>
          <a:ln w="0">
            <a:noFill/>
          </a:ln>
        </p:spPr>
      </p:pic>
      <p:sp>
        <p:nvSpPr>
          <p:cNvPr id="68" name="Google Shape;97;p12"/>
          <p:cNvSpPr/>
          <p:nvPr/>
        </p:nvSpPr>
        <p:spPr>
          <a:xfrm>
            <a:off x="530280" y="6085440"/>
            <a:ext cx="3428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8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60000" y="273240"/>
            <a:ext cx="8228520" cy="44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Анализ финансовой эффективности предприятий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oogle Shape;103;p13"/>
          <p:cNvSpPr/>
          <p:nvPr/>
        </p:nvSpPr>
        <p:spPr>
          <a:xfrm>
            <a:off x="3600000" y="900000"/>
            <a:ext cx="503928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Строки 250-3300, лист "Все Значения" | период 2023-2025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104;p13"/>
          <p:cNvSpPr/>
          <p:nvPr/>
        </p:nvSpPr>
        <p:spPr>
          <a:xfrm>
            <a:off x="180000" y="1260000"/>
            <a:ext cx="4679280" cy="48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Ход работы: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-88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Выбрано и проанализировано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40 заведений </a:t>
            </a: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indent="-88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Сформированы финансовые показатели за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2023–2025 гг. </a:t>
            </a: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выручка;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валовая прибыль;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чистая прибыль;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чистый убыток;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персонал.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indent="-88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Рассчитан показатель финансовой эффективности.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indent="-88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Выбраны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ТОП-6 заведений </a:t>
            </a: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2 максимальных </a:t>
            </a: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2 средних </a:t>
            </a: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2 минимальных </a:t>
            </a: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indent="-88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Для ТОП-6 подготовлена поквартальная детализация.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indent="-88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Построены графики динамики выручки и финансового результата.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indent="-88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Лучшие показатели: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Чико </a:t>
            </a: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,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Мамули </a:t>
            </a: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indent="-88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Средние показатели: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Библиотека кофе и Как дома;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indent="-88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Минимальные показатели: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CyberX </a:t>
            </a: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,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Morkoffka </a:t>
            </a: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Google Shape;105;p13"/>
          <p:cNvSpPr/>
          <p:nvPr/>
        </p:nvSpPr>
        <p:spPr>
          <a:xfrm>
            <a:off x="534600" y="6052680"/>
            <a:ext cx="3425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A7AB6386-3001-411E-8506-7A2A8F355294}" type="slidenum">
              <a:rPr b="0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Google Shape;106;p13" descr=""/>
          <p:cNvPicPr/>
          <p:nvPr/>
        </p:nvPicPr>
        <p:blipFill>
          <a:blip r:embed="rId2"/>
          <a:stretch/>
        </p:blipFill>
        <p:spPr>
          <a:xfrm>
            <a:off x="4647240" y="2055240"/>
            <a:ext cx="4331880" cy="303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111;p14"/>
          <p:cNvSpPr/>
          <p:nvPr/>
        </p:nvSpPr>
        <p:spPr>
          <a:xfrm>
            <a:off x="364680" y="273600"/>
            <a:ext cx="8228520" cy="4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Анализ финансовой эффективности предприятий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Google Shape;112;p14"/>
          <p:cNvSpPr/>
          <p:nvPr/>
        </p:nvSpPr>
        <p:spPr>
          <a:xfrm>
            <a:off x="174600" y="6052680"/>
            <a:ext cx="3425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7218D617-EC8F-40BE-8B2B-84181214CBC7}" type="slidenum">
              <a:rPr b="0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" name="Google Shape;113;p14" descr=""/>
          <p:cNvPicPr/>
          <p:nvPr/>
        </p:nvPicPr>
        <p:blipFill>
          <a:blip r:embed="rId2"/>
          <a:stretch/>
        </p:blipFill>
        <p:spPr>
          <a:xfrm>
            <a:off x="174600" y="838440"/>
            <a:ext cx="4572000" cy="2544840"/>
          </a:xfrm>
          <a:prstGeom prst="rect">
            <a:avLst/>
          </a:prstGeom>
          <a:ln w="0">
            <a:noFill/>
          </a:ln>
        </p:spPr>
      </p:pic>
      <p:pic>
        <p:nvPicPr>
          <p:cNvPr id="77" name="Google Shape;114;p14" descr=""/>
          <p:cNvPicPr/>
          <p:nvPr/>
        </p:nvPicPr>
        <p:blipFill>
          <a:blip r:embed="rId3"/>
          <a:stretch/>
        </p:blipFill>
        <p:spPr>
          <a:xfrm>
            <a:off x="4746960" y="2819880"/>
            <a:ext cx="4288320" cy="2544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93;p12" descr="image.jpe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ln w="0">
            <a:noFill/>
          </a:ln>
        </p:spPr>
      </p:pic>
      <p:sp>
        <p:nvSpPr>
          <p:cNvPr id="79" name="AutoShape 6"/>
          <p:cNvSpPr/>
          <p:nvPr/>
        </p:nvSpPr>
        <p:spPr>
          <a:xfrm>
            <a:off x="4457880" y="1577520"/>
            <a:ext cx="196560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68760" rIns="68760" tIns="34200" bIns="34200" anchor="t">
            <a:noAutofit/>
          </a:bodyPr>
          <a:p>
            <a:pPr>
              <a:lnSpc>
                <a:spcPct val="100000"/>
              </a:lnSpc>
            </a:pPr>
            <a:endParaRPr b="0" lang="ru-RU" sz="105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80" name="Рисунок 7" descr=""/>
          <p:cNvPicPr/>
          <p:nvPr/>
        </p:nvPicPr>
        <p:blipFill>
          <a:blip r:embed="rId2"/>
          <a:stretch/>
        </p:blipFill>
        <p:spPr>
          <a:xfrm>
            <a:off x="2971800" y="977040"/>
            <a:ext cx="6171840" cy="3042360"/>
          </a:xfrm>
          <a:prstGeom prst="rect">
            <a:avLst/>
          </a:prstGeom>
          <a:ln w="0">
            <a:noFill/>
          </a:ln>
        </p:spPr>
      </p:pic>
      <p:sp>
        <p:nvSpPr>
          <p:cNvPr id="81" name="TextBox 8"/>
          <p:cNvSpPr/>
          <p:nvPr/>
        </p:nvSpPr>
        <p:spPr>
          <a:xfrm>
            <a:off x="182880" y="1131480"/>
            <a:ext cx="2788560" cy="365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Times New Roman"/>
                <a:ea typeface="Arial"/>
              </a:rPr>
              <a:t>В рамках работы был рассмотрен перечень заведений общественного питания, расположенных в Краснодаре.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Times New Roman"/>
                <a:ea typeface="Arial"/>
              </a:rPr>
              <a:t>Для каждого заведения были обработаны основные финансовые показатели за 2022–2024 гг.: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28520" indent="-1285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rgbClr val="000000"/>
                </a:solidFill>
                <a:latin typeface="Times New Roman"/>
                <a:ea typeface="Arial"/>
              </a:rPr>
              <a:t>выручка;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28520" indent="-1285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rgbClr val="000000"/>
                </a:solidFill>
                <a:latin typeface="Times New Roman"/>
                <a:ea typeface="Arial"/>
              </a:rPr>
              <a:t>валовая прибыль;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28520" indent="-1285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rgbClr val="000000"/>
                </a:solidFill>
                <a:latin typeface="Times New Roman"/>
                <a:ea typeface="Arial"/>
              </a:rPr>
              <a:t>чистая прибыль;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28520" indent="-1285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rgbClr val="000000"/>
                </a:solidFill>
                <a:latin typeface="Times New Roman"/>
                <a:ea typeface="Arial"/>
              </a:rPr>
              <a:t>чистый убыток;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28520" indent="-1285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rgbClr val="000000"/>
                </a:solidFill>
                <a:latin typeface="Times New Roman"/>
                <a:ea typeface="Arial"/>
              </a:rPr>
              <a:t>средняя численность персонала.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Times New Roman"/>
                <a:ea typeface="Arial"/>
              </a:rPr>
              <a:t>На основе этих данных был рассчитан показатель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Times New Roman"/>
                <a:ea typeface="Arial"/>
              </a:rPr>
              <a:t>финансовой эффективности.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Times New Roman"/>
                <a:ea typeface="Arial"/>
              </a:rPr>
              <a:t>По графику финансовой эффективности видно, что наибольший результат показало заведение, достигнувшее значения.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9"/>
          <p:cNvSpPr/>
          <p:nvPr/>
        </p:nvSpPr>
        <p:spPr>
          <a:xfrm>
            <a:off x="182880" y="4403520"/>
            <a:ext cx="8846280" cy="171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Times New Roman"/>
                <a:ea typeface="Arial"/>
              </a:rPr>
              <a:t>Для дальнейшего анализа были отобраны 6 заведений с наибольшим значением финансовой эффективности.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Times New Roman"/>
                <a:ea typeface="Arial"/>
              </a:rPr>
              <a:t>В итоговую выборку вошли: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28520" indent="-1285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rgbClr val="000000"/>
                </a:solidFill>
                <a:latin typeface="Times New Roman"/>
                <a:ea typeface="Arial"/>
              </a:rPr>
              <a:t>Вкусно - и точка;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28520" indent="-1285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" sz="1200" spc="-1" strike="noStrike">
                <a:solidFill>
                  <a:srgbClr val="000000"/>
                </a:solidFill>
                <a:latin typeface="Times New Roman"/>
                <a:ea typeface="Arial"/>
              </a:rPr>
              <a:t>Rostic`s;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28520" indent="-1285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rgbClr val="000000"/>
                </a:solidFill>
                <a:latin typeface="Times New Roman"/>
                <a:ea typeface="Arial"/>
              </a:rPr>
              <a:t>Теремок;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28520" indent="-1285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" sz="1200" spc="-1" strike="noStrike">
                <a:solidFill>
                  <a:srgbClr val="000000"/>
                </a:solidFill>
                <a:latin typeface="Times New Roman"/>
                <a:ea typeface="Arial"/>
              </a:rPr>
              <a:t>Craft Coffee;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28520" indent="-1285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rgbClr val="000000"/>
                </a:solidFill>
                <a:latin typeface="Times New Roman"/>
                <a:ea typeface="Arial"/>
              </a:rPr>
              <a:t>Старик Хинкалыч;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28520" indent="-1285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" sz="1200" spc="-1" strike="noStrike">
                <a:solidFill>
                  <a:srgbClr val="000000"/>
                </a:solidFill>
                <a:latin typeface="Times New Roman"/>
                <a:ea typeface="Arial"/>
              </a:rPr>
              <a:t>Camorra Pizza e Birra.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Google Shape;112;p14"/>
          <p:cNvSpPr/>
          <p:nvPr/>
        </p:nvSpPr>
        <p:spPr>
          <a:xfrm>
            <a:off x="174600" y="6052680"/>
            <a:ext cx="3425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C5838AFB-5E22-4604-A375-377D38975DCA}" type="slidenum">
              <a:rPr b="0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93;p12" descr="image.jpe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ln w="0">
            <a:noFill/>
          </a:ln>
        </p:spPr>
      </p:pic>
      <p:pic>
        <p:nvPicPr>
          <p:cNvPr id="85" name="Рисунок 4" descr=""/>
          <p:cNvPicPr/>
          <p:nvPr/>
        </p:nvPicPr>
        <p:blipFill>
          <a:blip r:embed="rId2"/>
          <a:stretch/>
        </p:blipFill>
        <p:spPr>
          <a:xfrm>
            <a:off x="1076400" y="857160"/>
            <a:ext cx="6990840" cy="3445920"/>
          </a:xfrm>
          <a:prstGeom prst="rect">
            <a:avLst/>
          </a:prstGeom>
          <a:ln w="0">
            <a:noFill/>
          </a:ln>
        </p:spPr>
      </p:pic>
      <p:sp>
        <p:nvSpPr>
          <p:cNvPr id="86" name="TextBox 5"/>
          <p:cNvSpPr/>
          <p:nvPr/>
        </p:nvSpPr>
        <p:spPr>
          <a:xfrm>
            <a:off x="373320" y="4690080"/>
            <a:ext cx="82771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График показывает совокупную чистую прибыль выбранных заведений за 2022–2024 гг. Наибольший результат демонстрируют крупные сетевые заведения, прежде всего «Вкусно — и точка» и </a:t>
            </a:r>
            <a:r>
              <a:rPr b="0" lang="en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Rostic`s 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Google Shape;112;p14"/>
          <p:cNvSpPr/>
          <p:nvPr/>
        </p:nvSpPr>
        <p:spPr>
          <a:xfrm>
            <a:off x="174600" y="6052680"/>
            <a:ext cx="3425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00E08AC6-25AF-44AF-9052-8EB983988FAB}" type="slidenum">
              <a:rPr b="0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93;p12" descr="image.jpe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ln w="0">
            <a:noFill/>
          </a:ln>
        </p:spPr>
      </p:pic>
      <p:pic>
        <p:nvPicPr>
          <p:cNvPr id="89" name="Рисунок 4" descr=""/>
          <p:cNvPicPr/>
          <p:nvPr/>
        </p:nvPicPr>
        <p:blipFill>
          <a:blip r:embed="rId2"/>
          <a:stretch/>
        </p:blipFill>
        <p:spPr>
          <a:xfrm>
            <a:off x="879480" y="857160"/>
            <a:ext cx="7384320" cy="3644280"/>
          </a:xfrm>
          <a:prstGeom prst="rect">
            <a:avLst/>
          </a:prstGeom>
          <a:ln w="0">
            <a:noFill/>
          </a:ln>
        </p:spPr>
      </p:pic>
      <p:sp>
        <p:nvSpPr>
          <p:cNvPr id="90" name="TextBox 6"/>
          <p:cNvSpPr/>
          <p:nvPr/>
        </p:nvSpPr>
        <p:spPr>
          <a:xfrm>
            <a:off x="1364040" y="4814280"/>
            <a:ext cx="64155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На графике отражено изменение выручки по годам. У большинства заведений наблюдается рост или стабильная положительная динамика, что говорит о сохранении спроса и увеличении оборота.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Google Shape;112;p14"/>
          <p:cNvSpPr/>
          <p:nvPr/>
        </p:nvSpPr>
        <p:spPr>
          <a:xfrm>
            <a:off x="174600" y="6052680"/>
            <a:ext cx="3425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A6897F1C-09E0-492D-8604-36A4DE5CE53F}" type="slidenum">
              <a:rPr b="0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&lt;номер&gt;</a:t>
            </a:fld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11120" y="2090880"/>
            <a:ext cx="8228520" cy="15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Спасибо за Внимание!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LibreOffice/7.6.7.2$Windows_X86_64 LibreOffice_project/dd47e4b30cb7dab30588d6c79c651f218165e3c5</Application>
  <AppVersion>15.0000</AppVersion>
  <Words>584</Words>
  <Paragraphs>174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2026-06-19T18:27:03Z</dcterms:modified>
  <cp:revision>3</cp:revision>
  <dc:subject/>
  <dc:title>Результаты работы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Экран (4:3)</vt:lpwstr>
  </property>
  <property fmtid="{D5CDD505-2E9C-101B-9397-08002B2CF9AE}" pid="4" name="Slides">
    <vt:i4>15</vt:i4>
  </property>
</Properties>
</file>