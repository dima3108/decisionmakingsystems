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8" r:id="rId19"/>
    <p:sldId id="269" r:id="rId20"/>
    <p:sldId id="266" r:id="rId12"/>
    <p:sldId id="267" r:id="rId13"/>
    <p:sldId id="265" r:id="rId14"/>
  </p:sldIdLst>
  <p:sldSz cx="9144000" cy="6858000" type="screen4x3"/>
  <p:notesSz cx="7559675" cy="106918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79"/>
  </p:normalViewPr>
  <p:slideViewPr>
    <p:cSldViewPr snapToGrid="0">
      <p:cViewPr>
        <p:scale>
          <a:sx n="140" d="100"/>
          <a:sy n="140" d="100"/>
        </p:scale>
        <p:origin x="864" y="-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количество</c:v>
                </c:pt>
              </c:strCache>
            </c:strRef>
          </c:tx>
          <c:spPr>
            <a:solidFill>
              <a:srgbClr val="004586"/>
            </a:solidFill>
            <a:ln w="0">
              <a:noFill/>
            </a:ln>
          </c:spPr>
          <c:dPt>
            <c:idx val="0"/>
            <c:bubble3D val="0"/>
            <c:extLst>
              <c:ext xmlns:c16="http://schemas.microsoft.com/office/drawing/2014/chart" uri="{C3380CC4-5D6E-409C-BE32-E72D297353CC}">
                <c16:uniqueId val="{00000001-176A-C440-A6EE-5C6A4D55AF31}"/>
              </c:ext>
            </c:extLst>
          </c:dPt>
          <c:dPt>
            <c:idx val="1"/>
            <c:bubble3D val="0"/>
            <c:spPr>
              <a:solidFill>
                <a:srgbClr val="FF420E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3-176A-C440-A6EE-5C6A4D55AF31}"/>
              </c:ext>
            </c:extLst>
          </c:dPt>
          <c:dPt>
            <c:idx val="2"/>
            <c:bubble3D val="0"/>
            <c:spPr>
              <a:solidFill>
                <a:srgbClr val="FFD320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5-176A-C440-A6EE-5C6A4D55AF31}"/>
              </c:ext>
            </c:extLst>
          </c:dPt>
          <c:dPt>
            <c:idx val="3"/>
            <c:bubble3D val="0"/>
            <c:spPr>
              <a:solidFill>
                <a:srgbClr val="579D1C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7-176A-C440-A6EE-5C6A4D55AF31}"/>
              </c:ext>
            </c:extLst>
          </c:dPt>
          <c:dPt>
            <c:idx val="4"/>
            <c:bubble3D val="0"/>
            <c:spPr>
              <a:solidFill>
                <a:srgbClr val="7E0021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9-176A-C440-A6EE-5C6A4D55AF31}"/>
              </c:ext>
            </c:extLst>
          </c:dPt>
          <c:dPt>
            <c:idx val="5"/>
            <c:bubble3D val="0"/>
            <c:spPr>
              <a:solidFill>
                <a:srgbClr val="83CAFF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B-176A-C440-A6EE-5C6A4D55AF31}"/>
              </c:ext>
            </c:extLst>
          </c:dPt>
          <c:dLbls>
            <c:dLbl>
              <c:idx val="0"/>
              <c:spPr/>
              <c:txPr>
                <a:bodyPr wrap="none"/>
                <a:lstStyle/>
                <a:p>
                  <a:pPr>
                    <a:defRPr sz="1000" b="0" strike="noStrike" spc="-1">
                      <a:solidFill>
                        <a:srgbClr val="000000"/>
                      </a:solidFill>
                      <a:latin typeface="Arial"/>
                      <a:ea typeface="DejaVu Sans"/>
                    </a:defRPr>
                  </a:pPr>
                  <a:endParaRPr lang="ru-RU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6="http://schemas.microsoft.com/office/drawing/2014/chart" uri="{C3380CC4-5D6E-409C-BE32-E72D297353CC}">
                  <c16:uniqueId val="{00000001-176A-C440-A6EE-5C6A4D55AF31}"/>
                </c:ext>
              </c:extLst>
            </c:dLbl>
            <c:dLbl>
              <c:idx val="1"/>
              <c:spPr/>
              <c:txPr>
                <a:bodyPr wrap="none"/>
                <a:lstStyle/>
                <a:p>
                  <a:pPr>
                    <a:defRPr sz="1000" b="0" strike="noStrike" spc="-1">
                      <a:solidFill>
                        <a:srgbClr val="000000"/>
                      </a:solidFill>
                      <a:latin typeface="Arial"/>
                      <a:ea typeface="DejaVu Sans"/>
                    </a:defRPr>
                  </a:pPr>
                  <a:endParaRPr lang="ru-RU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6="http://schemas.microsoft.com/office/drawing/2014/chart" uri="{C3380CC4-5D6E-409C-BE32-E72D297353CC}">
                  <c16:uniqueId val="{00000003-176A-C440-A6EE-5C6A4D55AF31}"/>
                </c:ext>
              </c:extLst>
            </c:dLbl>
            <c:dLbl>
              <c:idx val="2"/>
              <c:spPr/>
              <c:txPr>
                <a:bodyPr wrap="none"/>
                <a:lstStyle/>
                <a:p>
                  <a:pPr>
                    <a:defRPr sz="1000" b="0" strike="noStrike" spc="-1">
                      <a:solidFill>
                        <a:srgbClr val="000000"/>
                      </a:solidFill>
                      <a:latin typeface="Arial"/>
                      <a:ea typeface="DejaVu Sans"/>
                    </a:defRPr>
                  </a:pPr>
                  <a:endParaRPr lang="ru-RU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6="http://schemas.microsoft.com/office/drawing/2014/chart" uri="{C3380CC4-5D6E-409C-BE32-E72D297353CC}">
                  <c16:uniqueId val="{00000005-176A-C440-A6EE-5C6A4D55AF31}"/>
                </c:ext>
              </c:extLst>
            </c:dLbl>
            <c:dLbl>
              <c:idx val="3"/>
              <c:spPr/>
              <c:txPr>
                <a:bodyPr wrap="none"/>
                <a:lstStyle/>
                <a:p>
                  <a:pPr>
                    <a:defRPr sz="1000" b="0" strike="noStrike" spc="-1">
                      <a:solidFill>
                        <a:srgbClr val="000000"/>
                      </a:solidFill>
                      <a:latin typeface="Arial"/>
                      <a:ea typeface="DejaVu Sans"/>
                    </a:defRPr>
                  </a:pPr>
                  <a:endParaRPr lang="ru-RU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6="http://schemas.microsoft.com/office/drawing/2014/chart" uri="{C3380CC4-5D6E-409C-BE32-E72D297353CC}">
                  <c16:uniqueId val="{00000007-176A-C440-A6EE-5C6A4D55AF31}"/>
                </c:ext>
              </c:extLst>
            </c:dLbl>
            <c:dLbl>
              <c:idx val="4"/>
              <c:spPr/>
              <c:txPr>
                <a:bodyPr wrap="none"/>
                <a:lstStyle/>
                <a:p>
                  <a:pPr>
                    <a:defRPr sz="1000" b="0" strike="noStrike" spc="-1">
                      <a:solidFill>
                        <a:srgbClr val="000000"/>
                      </a:solidFill>
                      <a:latin typeface="Arial"/>
                      <a:ea typeface="DejaVu Sans"/>
                    </a:defRPr>
                  </a:pPr>
                  <a:endParaRPr lang="ru-RU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6="http://schemas.microsoft.com/office/drawing/2014/chart" uri="{C3380CC4-5D6E-409C-BE32-E72D297353CC}">
                  <c16:uniqueId val="{00000009-176A-C440-A6EE-5C6A4D55AF31}"/>
                </c:ext>
              </c:extLst>
            </c:dLbl>
            <c:dLbl>
              <c:idx val="5"/>
              <c:spPr/>
              <c:txPr>
                <a:bodyPr wrap="none"/>
                <a:lstStyle/>
                <a:p>
                  <a:pPr>
                    <a:defRPr sz="1000" b="0" strike="noStrike" spc="-1">
                      <a:solidFill>
                        <a:srgbClr val="000000"/>
                      </a:solidFill>
                      <a:latin typeface="Arial"/>
                      <a:ea typeface="DejaVu Sans"/>
                    </a:defRPr>
                  </a:pPr>
                  <a:endParaRPr lang="ru-RU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6="http://schemas.microsoft.com/office/drawing/2014/chart" uri="{C3380CC4-5D6E-409C-BE32-E72D297353CC}">
                  <c16:uniqueId val="{0000000B-176A-C440-A6EE-5C6A4D55AF3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000" b="0" strike="noStrike" spc="-1">
                    <a:solidFill>
                      <a:srgbClr val="000000"/>
                    </a:solidFill>
                    <a:latin typeface="Arial"/>
                    <a:ea typeface="DejaVu Sans"/>
                  </a:defRPr>
                </a:pPr>
                <a:endParaRPr lang="ru-RU"/>
              </a:p>
            </c:txPr>
            <c:dLblPos val="bestFit"/>
            <c:showLegendKey val="0"/>
            <c:showVal val="0"/>
            <c:showCatName val="0"/>
            <c:showSerName val="0"/>
            <c:showPercent val="0"/>
            <c:showBubbleSize val="1"/>
            <c:separator> </c:separator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categories</c:f>
              <c:strCache>
                <c:ptCount val="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6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3</c:v>
                </c:pt>
                <c:pt idx="4">
                  <c:v>11</c:v>
                </c:pt>
                <c:pt idx="5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176A-C440-A6EE-5C6A4D55AF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 w="0">
          <a:noFill/>
        </a:ln>
      </c:spPr>
    </c:plotArea>
    <c:legend>
      <c:legendPos val="r"/>
      <c:overlay val="0"/>
      <c:spPr>
        <a:noFill/>
        <a:ln w="0">
          <a:noFill/>
        </a:ln>
      </c:spPr>
      <c:txPr>
        <a:bodyPr/>
        <a:lstStyle/>
        <a:p>
          <a:pPr>
            <a:defRPr sz="1000" b="0" strike="noStrike" spc="-1">
              <a:solidFill>
                <a:srgbClr val="000000"/>
              </a:solidFill>
              <a:latin typeface="Arial"/>
              <a:ea typeface="DejaVu Sans"/>
            </a:defRPr>
          </a:pPr>
          <a:endParaRPr lang="ru-RU"/>
        </a:p>
      </c:txPr>
    </c:legend>
    <c:plotVisOnly val="1"/>
    <c:dispBlanksAs val="zero"/>
    <c:showDLblsOverMax val="1"/>
  </c:chart>
  <c:spPr>
    <a:solidFill>
      <a:srgbClr val="FFFFFF"/>
    </a:solidFill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0"/>
  <c:style val="2"/>
  <c:chart>
    <c:title>
      <c:tx>
        <c:rich>
          <a:bodyPr rot="0"/>
          <a:lstStyle/>
          <a:p>
            <a:pPr>
              <a:defRPr sz="1300" b="0" strike="noStrike" spc="-1">
                <a:solidFill>
                  <a:srgbClr val="000000"/>
                </a:solidFill>
                <a:latin typeface="Arial"/>
                <a:ea typeface="DejaVu Sans"/>
              </a:defRPr>
            </a:pPr>
            <a:r>
              <a:rPr lang="ru-RU" sz="1300" b="0" strike="noStrike" spc="-1">
                <a:solidFill>
                  <a:srgbClr val="000000"/>
                </a:solidFill>
                <a:latin typeface="Arial"/>
                <a:ea typeface="DejaVu Sans"/>
              </a:rPr>
              <a:t>Распределение по выходным оценкам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layout/>
      <c:pie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Столбец B</c:v>
                </c:pt>
              </c:strCache>
            </c:strRef>
          </c:tx>
          <c:spPr>
            <a:solidFill>
              <a:srgbClr val="004586"/>
            </a:solidFill>
            <a:ln w="0">
              <a:noFill/>
            </a:ln>
          </c:spPr>
          <c:dPt>
            <c:idx val="0"/>
            <c:bubble3D val="0"/>
            <c:extLst>
              <c:ext xmlns:c16="http://schemas.microsoft.com/office/drawing/2014/chart" uri="{C3380CC4-5D6E-409C-BE32-E72D297353CC}">
                <c16:uniqueId val="{00000001-F86E-1A4B-B473-2E895C91FF6B}"/>
              </c:ext>
            </c:extLst>
          </c:dPt>
          <c:dPt>
            <c:idx val="1"/>
            <c:bubble3D val="0"/>
            <c:spPr>
              <a:solidFill>
                <a:srgbClr val="FF420E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3-F86E-1A4B-B473-2E895C91FF6B}"/>
              </c:ext>
            </c:extLst>
          </c:dPt>
          <c:dPt>
            <c:idx val="2"/>
            <c:bubble3D val="0"/>
            <c:spPr>
              <a:solidFill>
                <a:srgbClr val="FFD320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5-F86E-1A4B-B473-2E895C91FF6B}"/>
              </c:ext>
            </c:extLst>
          </c:dPt>
          <c:dPt>
            <c:idx val="3"/>
            <c:bubble3D val="0"/>
            <c:spPr>
              <a:solidFill>
                <a:srgbClr val="579D1C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7-F86E-1A4B-B473-2E895C91FF6B}"/>
              </c:ext>
            </c:extLst>
          </c:dPt>
          <c:dPt>
            <c:idx val="4"/>
            <c:bubble3D val="0"/>
            <c:spPr>
              <a:solidFill>
                <a:srgbClr val="7E0021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9-F86E-1A4B-B473-2E895C91FF6B}"/>
              </c:ext>
            </c:extLst>
          </c:dPt>
          <c:dPt>
            <c:idx val="5"/>
            <c:bubble3D val="0"/>
            <c:spPr>
              <a:solidFill>
                <a:srgbClr val="83CAFF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B-F86E-1A4B-B473-2E895C91FF6B}"/>
              </c:ext>
            </c:extLst>
          </c:dPt>
          <c:dLbls>
            <c:dLbl>
              <c:idx val="0"/>
              <c:spPr/>
              <c:txPr>
                <a:bodyPr wrap="none"/>
                <a:lstStyle/>
                <a:p>
                  <a:pPr>
                    <a:defRPr sz="1000" b="0" strike="noStrike" spc="-1">
                      <a:solidFill>
                        <a:srgbClr val="000000"/>
                      </a:solidFill>
                      <a:latin typeface="Arial"/>
                      <a:ea typeface="DejaVu Sans"/>
                    </a:defRPr>
                  </a:pPr>
                  <a:endParaRPr lang="ru-RU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6="http://schemas.microsoft.com/office/drawing/2014/chart" uri="{C3380CC4-5D6E-409C-BE32-E72D297353CC}">
                  <c16:uniqueId val="{00000001-F86E-1A4B-B473-2E895C91FF6B}"/>
                </c:ext>
              </c:extLst>
            </c:dLbl>
            <c:dLbl>
              <c:idx val="1"/>
              <c:spPr/>
              <c:txPr>
                <a:bodyPr wrap="none"/>
                <a:lstStyle/>
                <a:p>
                  <a:pPr>
                    <a:defRPr sz="1000" b="0" strike="noStrike" spc="-1">
                      <a:solidFill>
                        <a:srgbClr val="000000"/>
                      </a:solidFill>
                      <a:latin typeface="Arial"/>
                      <a:ea typeface="DejaVu Sans"/>
                    </a:defRPr>
                  </a:pPr>
                  <a:endParaRPr lang="ru-RU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6="http://schemas.microsoft.com/office/drawing/2014/chart" uri="{C3380CC4-5D6E-409C-BE32-E72D297353CC}">
                  <c16:uniqueId val="{00000003-F86E-1A4B-B473-2E895C91FF6B}"/>
                </c:ext>
              </c:extLst>
            </c:dLbl>
            <c:dLbl>
              <c:idx val="2"/>
              <c:spPr/>
              <c:txPr>
                <a:bodyPr wrap="none"/>
                <a:lstStyle/>
                <a:p>
                  <a:pPr>
                    <a:defRPr sz="1000" b="0" strike="noStrike" spc="-1">
                      <a:solidFill>
                        <a:srgbClr val="000000"/>
                      </a:solidFill>
                      <a:latin typeface="Arial"/>
                      <a:ea typeface="DejaVu Sans"/>
                    </a:defRPr>
                  </a:pPr>
                  <a:endParaRPr lang="ru-RU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6="http://schemas.microsoft.com/office/drawing/2014/chart" uri="{C3380CC4-5D6E-409C-BE32-E72D297353CC}">
                  <c16:uniqueId val="{00000005-F86E-1A4B-B473-2E895C91FF6B}"/>
                </c:ext>
              </c:extLst>
            </c:dLbl>
            <c:dLbl>
              <c:idx val="3"/>
              <c:spPr/>
              <c:txPr>
                <a:bodyPr wrap="none"/>
                <a:lstStyle/>
                <a:p>
                  <a:pPr>
                    <a:defRPr sz="1000" b="0" strike="noStrike" spc="-1">
                      <a:solidFill>
                        <a:srgbClr val="000000"/>
                      </a:solidFill>
                      <a:latin typeface="Arial"/>
                      <a:ea typeface="DejaVu Sans"/>
                    </a:defRPr>
                  </a:pPr>
                  <a:endParaRPr lang="ru-RU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6="http://schemas.microsoft.com/office/drawing/2014/chart" uri="{C3380CC4-5D6E-409C-BE32-E72D297353CC}">
                  <c16:uniqueId val="{00000007-F86E-1A4B-B473-2E895C91FF6B}"/>
                </c:ext>
              </c:extLst>
            </c:dLbl>
            <c:dLbl>
              <c:idx val="4"/>
              <c:spPr/>
              <c:txPr>
                <a:bodyPr wrap="none"/>
                <a:lstStyle/>
                <a:p>
                  <a:pPr>
                    <a:defRPr sz="1000" b="0" strike="noStrike" spc="-1">
                      <a:solidFill>
                        <a:srgbClr val="000000"/>
                      </a:solidFill>
                      <a:latin typeface="Arial"/>
                      <a:ea typeface="DejaVu Sans"/>
                    </a:defRPr>
                  </a:pPr>
                  <a:endParaRPr lang="ru-RU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6="http://schemas.microsoft.com/office/drawing/2014/chart" uri="{C3380CC4-5D6E-409C-BE32-E72D297353CC}">
                  <c16:uniqueId val="{00000009-F86E-1A4B-B473-2E895C91FF6B}"/>
                </c:ext>
              </c:extLst>
            </c:dLbl>
            <c:dLbl>
              <c:idx val="5"/>
              <c:spPr/>
              <c:txPr>
                <a:bodyPr wrap="none"/>
                <a:lstStyle/>
                <a:p>
                  <a:pPr>
                    <a:defRPr sz="1000" b="0" strike="noStrike" spc="-1">
                      <a:solidFill>
                        <a:srgbClr val="000000"/>
                      </a:solidFill>
                      <a:latin typeface="Arial"/>
                      <a:ea typeface="DejaVu Sans"/>
                    </a:defRPr>
                  </a:pPr>
                  <a:endParaRPr lang="ru-RU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6="http://schemas.microsoft.com/office/drawing/2014/chart" uri="{C3380CC4-5D6E-409C-BE32-E72D297353CC}">
                  <c16:uniqueId val="{0000000B-F86E-1A4B-B473-2E895C91FF6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000" b="0" strike="noStrike" spc="-1">
                    <a:solidFill>
                      <a:srgbClr val="000000"/>
                    </a:solidFill>
                    <a:latin typeface="Arial"/>
                    <a:ea typeface="DejaVu Sans"/>
                  </a:defRPr>
                </a:pPr>
                <a:endParaRPr lang="ru-RU"/>
              </a:p>
            </c:txPr>
            <c:dLblPos val="bestFit"/>
            <c:showLegendKey val="0"/>
            <c:showVal val="0"/>
            <c:showCatName val="0"/>
            <c:showSerName val="0"/>
            <c:showPercent val="0"/>
            <c:showBubbleSize val="1"/>
            <c:separator> </c:separator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categories</c:f>
              <c:strCache>
                <c:ptCount val="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6"/>
                <c:pt idx="0">
                  <c:v>37</c:v>
                </c:pt>
                <c:pt idx="1">
                  <c:v>1</c:v>
                </c:pt>
                <c:pt idx="2">
                  <c:v>1</c:v>
                </c:pt>
                <c:pt idx="3">
                  <c:v>5</c:v>
                </c:pt>
                <c:pt idx="4">
                  <c:v>187</c:v>
                </c:pt>
                <c:pt idx="5">
                  <c:v>406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F86E-1A4B-B473-2E895C91FF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 w="0">
          <a:noFill/>
        </a:ln>
      </c:spPr>
    </c:plotArea>
    <c:legend>
      <c:legendPos val="r"/>
      <c:overlay val="0"/>
      <c:spPr>
        <a:noFill/>
        <a:ln w="0">
          <a:noFill/>
        </a:ln>
      </c:spPr>
      <c:txPr>
        <a:bodyPr/>
        <a:lstStyle/>
        <a:p>
          <a:pPr>
            <a:defRPr sz="1000" b="0" strike="noStrike" spc="-1">
              <a:solidFill>
                <a:srgbClr val="000000"/>
              </a:solidFill>
              <a:latin typeface="Arial"/>
              <a:ea typeface="DejaVu Sans"/>
            </a:defRPr>
          </a:pPr>
          <a:endParaRPr lang="ru-RU"/>
        </a:p>
      </c:txPr>
    </c:legend>
    <c:plotVisOnly val="1"/>
    <c:dispBlanksAs val="zero"/>
    <c:showDLblsOverMax val="1"/>
  </c:chart>
  <c:spPr>
    <a:solidFill>
      <a:srgbClr val="FFFFFF"/>
    </a:solidFill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количество</c:v>
                </c:pt>
              </c:strCache>
            </c:strRef>
          </c:tx>
          <c:spPr>
            <a:solidFill>
              <a:srgbClr val="004586"/>
            </a:solidFill>
            <a:ln w="0">
              <a:noFill/>
            </a:ln>
          </c:spPr>
          <c:dPt>
            <c:idx val="0"/>
            <c:bubble3D val="0"/>
            <c:extLst>
              <c:ext xmlns:c16="http://schemas.microsoft.com/office/drawing/2014/chart" uri="{C3380CC4-5D6E-409C-BE32-E72D297353CC}">
                <c16:uniqueId val="{00000001-49C3-044B-9BBF-3139C275E702}"/>
              </c:ext>
            </c:extLst>
          </c:dPt>
          <c:dPt>
            <c:idx val="1"/>
            <c:bubble3D val="0"/>
            <c:spPr>
              <a:solidFill>
                <a:srgbClr val="FF420E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3-49C3-044B-9BBF-3139C275E702}"/>
              </c:ext>
            </c:extLst>
          </c:dPt>
          <c:dPt>
            <c:idx val="2"/>
            <c:bubble3D val="0"/>
            <c:spPr>
              <a:solidFill>
                <a:srgbClr val="FFD320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5-49C3-044B-9BBF-3139C275E702}"/>
              </c:ext>
            </c:extLst>
          </c:dPt>
          <c:dPt>
            <c:idx val="3"/>
            <c:bubble3D val="0"/>
            <c:spPr>
              <a:solidFill>
                <a:srgbClr val="579D1C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7-49C3-044B-9BBF-3139C275E702}"/>
              </c:ext>
            </c:extLst>
          </c:dPt>
          <c:dPt>
            <c:idx val="4"/>
            <c:bubble3D val="0"/>
            <c:spPr>
              <a:solidFill>
                <a:srgbClr val="7E0021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9-49C3-044B-9BBF-3139C275E702}"/>
              </c:ext>
            </c:extLst>
          </c:dPt>
          <c:dPt>
            <c:idx val="5"/>
            <c:bubble3D val="0"/>
            <c:spPr>
              <a:solidFill>
                <a:srgbClr val="83CAFF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B-49C3-044B-9BBF-3139C275E702}"/>
              </c:ext>
            </c:extLst>
          </c:dPt>
          <c:dLbls>
            <c:dLbl>
              <c:idx val="0"/>
              <c:spPr/>
              <c:txPr>
                <a:bodyPr wrap="none"/>
                <a:lstStyle/>
                <a:p>
                  <a:pPr>
                    <a:defRPr sz="1000" b="0" strike="noStrike" spc="-1">
                      <a:solidFill>
                        <a:srgbClr val="000000"/>
                      </a:solidFill>
                      <a:latin typeface="Arial"/>
                      <a:ea typeface="DejaVu Sans"/>
                    </a:defRPr>
                  </a:pPr>
                  <a:endParaRPr lang="ru-RU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6="http://schemas.microsoft.com/office/drawing/2014/chart" uri="{C3380CC4-5D6E-409C-BE32-E72D297353CC}">
                  <c16:uniqueId val="{00000001-49C3-044B-9BBF-3139C275E702}"/>
                </c:ext>
              </c:extLst>
            </c:dLbl>
            <c:dLbl>
              <c:idx val="1"/>
              <c:spPr/>
              <c:txPr>
                <a:bodyPr wrap="none"/>
                <a:lstStyle/>
                <a:p>
                  <a:pPr>
                    <a:defRPr sz="1000" b="0" strike="noStrike" spc="-1">
                      <a:solidFill>
                        <a:srgbClr val="000000"/>
                      </a:solidFill>
                      <a:latin typeface="Arial"/>
                      <a:ea typeface="DejaVu Sans"/>
                    </a:defRPr>
                  </a:pPr>
                  <a:endParaRPr lang="ru-RU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6="http://schemas.microsoft.com/office/drawing/2014/chart" uri="{C3380CC4-5D6E-409C-BE32-E72D297353CC}">
                  <c16:uniqueId val="{00000003-49C3-044B-9BBF-3139C275E702}"/>
                </c:ext>
              </c:extLst>
            </c:dLbl>
            <c:dLbl>
              <c:idx val="2"/>
              <c:spPr/>
              <c:txPr>
                <a:bodyPr wrap="none"/>
                <a:lstStyle/>
                <a:p>
                  <a:pPr>
                    <a:defRPr sz="1000" b="0" strike="noStrike" spc="-1">
                      <a:solidFill>
                        <a:srgbClr val="000000"/>
                      </a:solidFill>
                      <a:latin typeface="Arial"/>
                      <a:ea typeface="DejaVu Sans"/>
                    </a:defRPr>
                  </a:pPr>
                  <a:endParaRPr lang="ru-RU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6="http://schemas.microsoft.com/office/drawing/2014/chart" uri="{C3380CC4-5D6E-409C-BE32-E72D297353CC}">
                  <c16:uniqueId val="{00000005-49C3-044B-9BBF-3139C275E702}"/>
                </c:ext>
              </c:extLst>
            </c:dLbl>
            <c:dLbl>
              <c:idx val="3"/>
              <c:spPr/>
              <c:txPr>
                <a:bodyPr wrap="none"/>
                <a:lstStyle/>
                <a:p>
                  <a:pPr>
                    <a:defRPr sz="1000" b="0" strike="noStrike" spc="-1">
                      <a:solidFill>
                        <a:srgbClr val="000000"/>
                      </a:solidFill>
                      <a:latin typeface="Arial"/>
                      <a:ea typeface="DejaVu Sans"/>
                    </a:defRPr>
                  </a:pPr>
                  <a:endParaRPr lang="ru-RU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6="http://schemas.microsoft.com/office/drawing/2014/chart" uri="{C3380CC4-5D6E-409C-BE32-E72D297353CC}">
                  <c16:uniqueId val="{00000007-49C3-044B-9BBF-3139C275E702}"/>
                </c:ext>
              </c:extLst>
            </c:dLbl>
            <c:dLbl>
              <c:idx val="4"/>
              <c:spPr/>
              <c:txPr>
                <a:bodyPr wrap="none"/>
                <a:lstStyle/>
                <a:p>
                  <a:pPr>
                    <a:defRPr sz="1000" b="0" strike="noStrike" spc="-1">
                      <a:solidFill>
                        <a:srgbClr val="000000"/>
                      </a:solidFill>
                      <a:latin typeface="Arial"/>
                      <a:ea typeface="DejaVu Sans"/>
                    </a:defRPr>
                  </a:pPr>
                  <a:endParaRPr lang="ru-RU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6="http://schemas.microsoft.com/office/drawing/2014/chart" uri="{C3380CC4-5D6E-409C-BE32-E72D297353CC}">
                  <c16:uniqueId val="{00000009-49C3-044B-9BBF-3139C275E702}"/>
                </c:ext>
              </c:extLst>
            </c:dLbl>
            <c:dLbl>
              <c:idx val="5"/>
              <c:spPr/>
              <c:txPr>
                <a:bodyPr wrap="none"/>
                <a:lstStyle/>
                <a:p>
                  <a:pPr>
                    <a:defRPr sz="1000" b="0" strike="noStrike" spc="-1">
                      <a:solidFill>
                        <a:srgbClr val="000000"/>
                      </a:solidFill>
                      <a:latin typeface="Arial"/>
                      <a:ea typeface="DejaVu Sans"/>
                    </a:defRPr>
                  </a:pPr>
                  <a:endParaRPr lang="ru-RU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6="http://schemas.microsoft.com/office/drawing/2014/chart" uri="{C3380CC4-5D6E-409C-BE32-E72D297353CC}">
                  <c16:uniqueId val="{0000000B-49C3-044B-9BBF-3139C275E70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000" b="0" strike="noStrike" spc="-1">
                    <a:solidFill>
                      <a:srgbClr val="000000"/>
                    </a:solidFill>
                    <a:latin typeface="Arial"/>
                    <a:ea typeface="DejaVu Sans"/>
                  </a:defRPr>
                </a:pPr>
                <a:endParaRPr lang="ru-RU"/>
              </a:p>
            </c:txPr>
            <c:dLblPos val="bestFit"/>
            <c:showLegendKey val="0"/>
            <c:showVal val="0"/>
            <c:showCatName val="0"/>
            <c:showSerName val="0"/>
            <c:showPercent val="0"/>
            <c:showBubbleSize val="1"/>
            <c:separator> </c:separator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categories</c:f>
              <c:strCache>
                <c:ptCount val="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6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3</c:v>
                </c:pt>
                <c:pt idx="4">
                  <c:v>11</c:v>
                </c:pt>
                <c:pt idx="5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49C3-044B-9BBF-3139C275E7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 w="0">
          <a:noFill/>
        </a:ln>
      </c:spPr>
    </c:plotArea>
    <c:legend>
      <c:legendPos val="r"/>
      <c:overlay val="0"/>
      <c:spPr>
        <a:noFill/>
        <a:ln w="0">
          <a:noFill/>
        </a:ln>
      </c:spPr>
      <c:txPr>
        <a:bodyPr/>
        <a:lstStyle/>
        <a:p>
          <a:pPr>
            <a:defRPr sz="1000" b="0" strike="noStrike" spc="-1">
              <a:solidFill>
                <a:srgbClr val="000000"/>
              </a:solidFill>
              <a:latin typeface="Arial"/>
              <a:ea typeface="DejaVu Sans"/>
            </a:defRPr>
          </a:pPr>
          <a:endParaRPr lang="ru-RU"/>
        </a:p>
      </c:txPr>
    </c:legend>
    <c:plotVisOnly val="1"/>
    <c:dispBlanksAs val="zero"/>
    <c:showDLblsOverMax val="1"/>
  </c:chart>
  <c:spPr>
    <a:solidFill>
      <a:srgbClr val="FFFFFF"/>
    </a:solidFill>
    <a:ln w="0">
      <a:noFill/>
    </a:ln>
  </c:spPr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Обы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91080"/>
            <a:ext cx="8228880" cy="1509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C2F5C7FA-946C-4610-A63C-AC544FB5D4E1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Обычный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91080"/>
            <a:ext cx="8228880" cy="1509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3416B6EF-5CC3-4C96-9D9D-2A436155C452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91080"/>
            <a:ext cx="8228880" cy="1509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ftr" idx="1"/>
          </p:nvPr>
        </p:nvSpPr>
        <p:spPr>
          <a:xfrm>
            <a:off x="3126960" y="6247440"/>
            <a:ext cx="289800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5960" y="6247440"/>
            <a:ext cx="21297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4F1C47F-FF59-441C-8EEB-04B87A6C5116}" type="slidenum"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ru-RU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247440"/>
            <a:ext cx="21297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&lt;дата/время&gt;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strike="noStrike" spc="-1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strike="noStrike" spc="-1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91080"/>
            <a:ext cx="8228880" cy="1509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  <p:sp>
        <p:nvSpPr>
          <p:cNvPr id="9" name="PlaceHolder 3"/>
          <p:cNvSpPr>
            <a:spLocks noGrp="1"/>
          </p:cNvSpPr>
          <p:nvPr>
            <p:ph type="ftr" idx="4"/>
          </p:nvPr>
        </p:nvSpPr>
        <p:spPr>
          <a:xfrm>
            <a:off x="3126960" y="6247440"/>
            <a:ext cx="289800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10" name="PlaceHolder 4"/>
          <p:cNvSpPr>
            <a:spLocks noGrp="1"/>
          </p:cNvSpPr>
          <p:nvPr>
            <p:ph type="sldNum" idx="5"/>
          </p:nvPr>
        </p:nvSpPr>
        <p:spPr>
          <a:xfrm>
            <a:off x="6555960" y="6247440"/>
            <a:ext cx="21297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BED112B-0BC0-412A-8AE5-B5010F3AB76D}" type="slidenum"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ru-RU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dt" idx="6"/>
          </p:nvPr>
        </p:nvSpPr>
        <p:spPr>
          <a:xfrm>
            <a:off x="457200" y="6247440"/>
            <a:ext cx="2129760" cy="47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&lt;дата/время&gt;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chart" Target="../charts/chart2.xml"/><Relationship Id="rId4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tile tx="0" ty="0" sx="100000" sy="100000" algn="ctr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24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5320" b="0" strike="noStrike" spc="-1">
                <a:solidFill>
                  <a:srgbClr val="000000"/>
                </a:solidFill>
                <a:latin typeface="Arial"/>
              </a:rPr>
              <a:t>Результаты работы</a:t>
            </a:r>
          </a:p>
        </p:txBody>
      </p:sp>
      <p:sp>
        <p:nvSpPr>
          <p:cNvPr id="15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870" b="0" strike="noStrike" spc="-1">
                <a:solidFill>
                  <a:srgbClr val="000000"/>
                </a:solidFill>
                <a:latin typeface="Arial"/>
              </a:rPr>
              <a:t>Павлов ,Буткевич,Кокин,</a:t>
            </a:r>
          </a:p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870" b="0" strike="noStrike" spc="-1">
                <a:solidFill>
                  <a:srgbClr val="000000"/>
                </a:solidFill>
                <a:latin typeface="Arial"/>
              </a:rPr>
              <a:t>Шепелев,Светиков,Лаптев,</a:t>
            </a:r>
          </a:p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870" b="0" strike="noStrike" spc="-1">
                <a:solidFill>
                  <a:srgbClr val="000000"/>
                </a:solidFill>
                <a:latin typeface="Arial"/>
              </a:rPr>
              <a:t>Дудченко,Кузнецов,Тарасона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tile tx="0" ty="0" sx="100000" sy="100000" algn="ctr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3240"/>
            <a:ext cx="8228880" cy="80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400" b="1" strike="noStrike" spc="-1">
                <a:solidFill>
                  <a:srgbClr val="000000"/>
                </a:solidFill>
                <a:latin typeface="Times New Roman"/>
              </a:rPr>
              <a:t>Данные по Горячему ключу</a:t>
            </a:r>
            <a:endParaRPr lang="ru-RU" sz="2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" name="Рисунок 16"/>
          <p:cNvPicPr/>
          <p:nvPr/>
        </p:nvPicPr>
        <p:blipFill>
          <a:blip r:embed="rId3"/>
          <a:stretch/>
        </p:blipFill>
        <p:spPr>
          <a:xfrm>
            <a:off x="601560" y="1260000"/>
            <a:ext cx="8038080" cy="5032440"/>
          </a:xfrm>
          <a:prstGeom prst="rect">
            <a:avLst/>
          </a:prstGeom>
          <a:ln w="0">
            <a:noFill/>
          </a:ln>
        </p:spPr>
      </p:pic>
      <p:sp>
        <p:nvSpPr>
          <p:cNvPr id="18" name="TextBox 17"/>
          <p:cNvSpPr txBox="1"/>
          <p:nvPr/>
        </p:nvSpPr>
        <p:spPr>
          <a:xfrm>
            <a:off x="0" y="6412680"/>
            <a:ext cx="34254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fld id="{9423DEA8-EF6D-432B-B887-33E505CC757A}" type="slidenum">
              <a:rPr lang="ru-RU" sz="2400" b="0" strike="noStrike" spc="-1">
                <a:solidFill>
                  <a:srgbClr val="000000"/>
                </a:solidFill>
                <a:latin typeface="Times New Roman"/>
              </a:rPr>
              <a:t>2</a:t>
            </a:fld>
            <a:endParaRPr lang="ru-RU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tile tx="0" ty="0" sx="100000" sy="100000" algn="ctr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18"/>
          <p:cNvSpPr/>
          <p:nvPr/>
        </p:nvSpPr>
        <p:spPr>
          <a:xfrm>
            <a:off x="457560" y="273600"/>
            <a:ext cx="8228880" cy="80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2400" b="1" strike="noStrike" spc="-1">
                <a:solidFill>
                  <a:srgbClr val="000000"/>
                </a:solidFill>
                <a:latin typeface="Times New Roman"/>
              </a:rPr>
              <a:t>Данные по Горячему ключу</a:t>
            </a:r>
            <a:endParaRPr lang="ru-RU" sz="2400" b="0" strike="noStrike" spc="-1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0" name="Диаграмма 19"/>
          <p:cNvGraphicFramePr/>
          <p:nvPr/>
        </p:nvGraphicFramePr>
        <p:xfrm>
          <a:off x="1620000" y="2880360"/>
          <a:ext cx="5759280" cy="3239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1" name="Таблица 20"/>
          <p:cNvGraphicFramePr/>
          <p:nvPr/>
        </p:nvGraphicFramePr>
        <p:xfrm>
          <a:off x="1080000" y="1856520"/>
          <a:ext cx="7210440" cy="731520"/>
        </p:xfrm>
        <a:graphic>
          <a:graphicData uri="http://schemas.openxmlformats.org/drawingml/2006/table">
            <a:tbl>
              <a:tblPr/>
              <a:tblGrid>
                <a:gridCol w="1356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9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9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9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29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306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46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8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оценка</a:t>
                      </a:r>
                      <a:endParaRPr lang="ru-RU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ru-RU" sz="18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endParaRPr lang="ru-RU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ru-RU" sz="18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  <a:endParaRPr lang="ru-RU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ru-RU" sz="18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  <a:endParaRPr lang="ru-RU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ru-RU" sz="18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  <a:endParaRPr lang="ru-RU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ru-RU" sz="18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4</a:t>
                      </a:r>
                      <a:endParaRPr lang="ru-RU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ru-RU" sz="18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5</a:t>
                      </a:r>
                      <a:endParaRPr lang="ru-RU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8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количество</a:t>
                      </a:r>
                      <a:endParaRPr lang="ru-RU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ru-RU" sz="18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  <a:endParaRPr lang="ru-RU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ru-RU" sz="18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  <a:endParaRPr lang="ru-RU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ru-RU" sz="18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  <a:endParaRPr lang="ru-RU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ru-RU" sz="18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  <a:endParaRPr lang="ru-RU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ru-RU" sz="18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11</a:t>
                      </a:r>
                      <a:endParaRPr lang="ru-RU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ru-RU" sz="18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24</a:t>
                      </a:r>
                      <a:endParaRPr lang="ru-RU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180000" y="6300000"/>
            <a:ext cx="34254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fld id="{126217DD-B474-46B9-8800-7CA7740B9A36}" type="slidenum">
              <a:rPr lang="ru-RU" sz="2400" b="0" strike="noStrike" spc="-1">
                <a:solidFill>
                  <a:srgbClr val="000000"/>
                </a:solidFill>
                <a:latin typeface="Times New Roman"/>
              </a:rPr>
              <a:t>3</a:t>
            </a:fld>
            <a:endParaRPr lang="ru-RU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tile tx="0" ty="0" sx="100000" sy="100000" algn="ctr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3240"/>
            <a:ext cx="8228880" cy="62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000" b="1" strike="noStrike" spc="-1">
                <a:solidFill>
                  <a:srgbClr val="000000"/>
                </a:solidFill>
                <a:latin typeface="Times New Roman"/>
              </a:rPr>
              <a:t>Сравнение Краснодара и Горячего Ключа</a:t>
            </a:r>
            <a:endParaRPr lang="ru-RU" sz="2000" b="0" strike="noStrike" spc="-1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4" name="Диаграмма 23"/>
          <p:cNvGraphicFramePr/>
          <p:nvPr/>
        </p:nvGraphicFramePr>
        <p:xfrm>
          <a:off x="4320000" y="2281320"/>
          <a:ext cx="4679640" cy="2758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Прямоугольник 24"/>
          <p:cNvSpPr/>
          <p:nvPr/>
        </p:nvSpPr>
        <p:spPr>
          <a:xfrm>
            <a:off x="5220000" y="1620000"/>
            <a:ext cx="3239640" cy="53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Краснодар</a:t>
            </a:r>
          </a:p>
        </p:txBody>
      </p:sp>
      <p:graphicFrame>
        <p:nvGraphicFramePr>
          <p:cNvPr id="26" name="Диаграмма 25"/>
          <p:cNvGraphicFramePr/>
          <p:nvPr/>
        </p:nvGraphicFramePr>
        <p:xfrm>
          <a:off x="180360" y="2281320"/>
          <a:ext cx="4679280" cy="3239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7" name="Прямоугольник 26"/>
          <p:cNvSpPr/>
          <p:nvPr/>
        </p:nvSpPr>
        <p:spPr>
          <a:xfrm>
            <a:off x="720000" y="1440000"/>
            <a:ext cx="3419640" cy="53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800" b="0" strike="noStrike" spc="-1">
                <a:solidFill>
                  <a:srgbClr val="000000"/>
                </a:solidFill>
                <a:latin typeface="Times New Roman"/>
              </a:rPr>
              <a:t>Горячий Ключ</a:t>
            </a: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60000" y="6232680"/>
            <a:ext cx="34254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fld id="{922D0BC0-BCE2-4F67-9393-7E3130189197}" type="slidenum">
              <a:rPr lang="ru-RU" sz="2400" b="0" strike="noStrike" spc="-1">
                <a:solidFill>
                  <a:srgbClr val="000000"/>
                </a:solidFill>
                <a:latin typeface="Times New Roman"/>
              </a:rPr>
              <a:t>4</a:t>
            </a:fld>
            <a:endParaRPr lang="ru-RU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tile tx="0" ty="0" sx="100000" sy="100000" algn="ctr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24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000" b="1" strike="noStrike" spc="-1">
                <a:solidFill>
                  <a:srgbClr val="000000"/>
                </a:solidFill>
                <a:latin typeface="Times New Roman"/>
              </a:rPr>
              <a:t>Уменьшение кол-ва значений выходной переменной</a:t>
            </a:r>
            <a:endParaRPr lang="ru-RU" sz="2000" b="0" strike="noStrike" spc="-1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30" name="Таблица 29"/>
          <p:cNvGraphicFramePr/>
          <p:nvPr/>
        </p:nvGraphicFramePr>
        <p:xfrm>
          <a:off x="457200" y="1604520"/>
          <a:ext cx="8229240" cy="1463040"/>
        </p:xfrm>
        <a:graphic>
          <a:graphicData uri="http://schemas.openxmlformats.org/drawingml/2006/table">
            <a:tbl>
              <a:tblPr/>
              <a:tblGrid>
                <a:gridCol w="411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6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-RU" sz="18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Значение переменной</a:t>
                      </a:r>
                      <a:endParaRPr lang="ru-RU" sz="18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5983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-RU" sz="18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Диапазон рейтинга</a:t>
                      </a:r>
                      <a:endParaRPr lang="ru-RU" sz="18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5983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-RU" sz="18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0 (низкая)</a:t>
                      </a:r>
                      <a:endParaRPr lang="ru-RU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-RU" sz="18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[0;2)</a:t>
                      </a:r>
                      <a:endParaRPr lang="ru-RU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-RU" sz="18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 (средняя)</a:t>
                      </a:r>
                      <a:endParaRPr lang="ru-RU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-RU" sz="18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[2;4)</a:t>
                      </a:r>
                      <a:endParaRPr lang="ru-RU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-RU" sz="18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2 (высокая)</a:t>
                      </a:r>
                      <a:endParaRPr lang="ru-RU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-RU" sz="18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[4;5]</a:t>
                      </a:r>
                      <a:endParaRPr lang="ru-RU" sz="18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180000" y="6120000"/>
            <a:ext cx="34254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fld id="{C5F23D42-4E68-487A-B9A3-9556E945FC77}" type="slidenum">
              <a:rPr lang="ru-RU" sz="2400" b="0" strike="noStrike" spc="-1">
                <a:solidFill>
                  <a:srgbClr val="000000"/>
                </a:solidFill>
                <a:latin typeface="Times New Roman"/>
              </a:rPr>
              <a:t>5</a:t>
            </a:fld>
            <a:endParaRPr lang="ru-RU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tile tx="0" ty="0" sx="100000" sy="100000" algn="ctr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3240"/>
            <a:ext cx="8228880" cy="44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1" strike="noStrike" spc="-1">
                <a:solidFill>
                  <a:srgbClr val="000000"/>
                </a:solidFill>
                <a:latin typeface="Times New Roman"/>
              </a:rPr>
              <a:t>Кластерный анализ правил</a:t>
            </a: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" name="Рисунок 32"/>
          <p:cNvPicPr/>
          <p:nvPr/>
        </p:nvPicPr>
        <p:blipFill>
          <a:blip r:embed="rId3"/>
          <a:stretch/>
        </p:blipFill>
        <p:spPr>
          <a:xfrm>
            <a:off x="485280" y="813240"/>
            <a:ext cx="8154360" cy="5666400"/>
          </a:xfrm>
          <a:prstGeom prst="rect">
            <a:avLst/>
          </a:prstGeom>
          <a:ln w="0">
            <a:noFill/>
          </a:ln>
        </p:spPr>
      </p:pic>
      <p:sp>
        <p:nvSpPr>
          <p:cNvPr id="34" name="TextBox 33"/>
          <p:cNvSpPr txBox="1"/>
          <p:nvPr/>
        </p:nvSpPr>
        <p:spPr>
          <a:xfrm>
            <a:off x="180000" y="6430680"/>
            <a:ext cx="34254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fld id="{3A9C31EE-FE2F-4BBD-B32B-A5AFBF22E1EF}" type="slidenum">
              <a:rPr lang="ru-RU" sz="2400" b="0" strike="noStrike" spc="-1">
                <a:solidFill>
                  <a:srgbClr val="000000"/>
                </a:solidFill>
                <a:latin typeface="Times New Roman"/>
              </a:rPr>
              <a:t>6</a:t>
            </a:fld>
            <a:endParaRPr lang="ru-RU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tile tx="0" ty="0" sx="100000" sy="100000" algn="ctr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360000" y="273240"/>
            <a:ext cx="8228880" cy="44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ru-RU" sz="2000" b="1" dirty="0"/>
              <a:t>Анализ финансовой эффективности предприятий</a:t>
            </a:r>
          </a:p>
        </p:txBody>
      </p:sp>
      <p:sp>
        <p:nvSpPr>
          <p:cNvPr id="39" name="Прямоугольник 38"/>
          <p:cNvSpPr/>
          <p:nvPr/>
        </p:nvSpPr>
        <p:spPr>
          <a:xfrm>
            <a:off x="3600000" y="900000"/>
            <a:ext cx="5039640" cy="35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 dirty="0" err="1">
                <a:solidFill>
                  <a:srgbClr val="000000"/>
                </a:solidFill>
                <a:latin typeface="Times New Roman"/>
                <a:ea typeface="Arial"/>
              </a:rPr>
              <a:t>Строки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Arial"/>
              </a:rPr>
              <a:t> </a:t>
            </a:r>
            <a:r>
              <a:rPr lang="ru-RU" sz="1200" spc="-1" dirty="0">
                <a:solidFill>
                  <a:srgbClr val="000000"/>
                </a:solidFill>
                <a:latin typeface="Times New Roman"/>
                <a:ea typeface="Arial"/>
              </a:rPr>
              <a:t>250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Arial"/>
              </a:rPr>
              <a:t>-</a:t>
            </a:r>
            <a:r>
              <a:rPr lang="ru-RU" sz="1200" b="0" strike="noStrike" spc="-1" dirty="0">
                <a:solidFill>
                  <a:srgbClr val="000000"/>
                </a:solidFill>
                <a:latin typeface="Times New Roman"/>
                <a:ea typeface="Arial"/>
              </a:rPr>
              <a:t>330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Arial"/>
              </a:rPr>
              <a:t>0, </a:t>
            </a:r>
            <a:r>
              <a:rPr lang="en-US" sz="1200" b="0" strike="noStrike" spc="-1" dirty="0" err="1">
                <a:solidFill>
                  <a:srgbClr val="000000"/>
                </a:solidFill>
                <a:latin typeface="Times New Roman"/>
                <a:ea typeface="Arial"/>
              </a:rPr>
              <a:t>лист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Arial"/>
              </a:rPr>
              <a:t> "</a:t>
            </a:r>
            <a:r>
              <a:rPr lang="en-US" sz="1200" b="0" strike="noStrike" spc="-1" dirty="0" err="1">
                <a:solidFill>
                  <a:srgbClr val="000000"/>
                </a:solidFill>
                <a:latin typeface="Times New Roman"/>
                <a:ea typeface="Arial"/>
              </a:rPr>
              <a:t>Все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Arial"/>
              </a:rPr>
              <a:t> </a:t>
            </a:r>
            <a:r>
              <a:rPr lang="en-US" sz="1200" b="0" strike="noStrike" spc="-1" dirty="0" err="1">
                <a:solidFill>
                  <a:srgbClr val="000000"/>
                </a:solidFill>
                <a:latin typeface="Times New Roman"/>
                <a:ea typeface="Arial"/>
              </a:rPr>
              <a:t>Значения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Arial"/>
              </a:rPr>
              <a:t>" | </a:t>
            </a:r>
            <a:r>
              <a:rPr lang="en-US" sz="1200" b="0" strike="noStrike" spc="-1" dirty="0" err="1">
                <a:solidFill>
                  <a:srgbClr val="000000"/>
                </a:solidFill>
                <a:latin typeface="Times New Roman"/>
                <a:ea typeface="Arial"/>
              </a:rPr>
              <a:t>период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Arial"/>
              </a:rPr>
              <a:t> 2023-2025</a:t>
            </a:r>
            <a:endParaRPr lang="ru-RU" sz="1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Прямоугольник 41"/>
          <p:cNvSpPr/>
          <p:nvPr/>
        </p:nvSpPr>
        <p:spPr>
          <a:xfrm>
            <a:off x="180000" y="1260000"/>
            <a:ext cx="4679640" cy="485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600" b="0" strike="noStrike" spc="-1" dirty="0">
                <a:solidFill>
                  <a:srgbClr val="000000"/>
                </a:solidFill>
                <a:latin typeface="Times New Roman"/>
              </a:rPr>
              <a:t>Ход работы:</a:t>
            </a:r>
            <a:endParaRPr lang="ru-RU" sz="1600" b="0" strike="noStrike" spc="-1" dirty="0">
              <a:solidFill>
                <a:srgbClr val="000000"/>
              </a:solidFill>
              <a:latin typeface="Arial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effectLst/>
                <a:latin typeface="tuiText"/>
              </a:rPr>
              <a:t>Выбрано и проанализировано </a:t>
            </a:r>
            <a:r>
              <a:rPr lang="ru-RU" sz="1400" b="1" i="0" dirty="0">
                <a:effectLst/>
                <a:latin typeface="tuiText"/>
              </a:rPr>
              <a:t>40 заведений </a:t>
            </a:r>
            <a:r>
              <a:rPr lang="ru-RU" sz="1400" b="0" i="0" dirty="0">
                <a:effectLst/>
                <a:latin typeface="tuiText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effectLst/>
                <a:latin typeface="tuiText"/>
              </a:rPr>
              <a:t>Сформированы финансовые показатели за </a:t>
            </a:r>
            <a:r>
              <a:rPr lang="ru-RU" sz="1400" b="1" i="0" dirty="0">
                <a:effectLst/>
                <a:latin typeface="tuiText"/>
              </a:rPr>
              <a:t>2023–2025 гг. </a:t>
            </a:r>
            <a:r>
              <a:rPr lang="ru-RU" sz="1400" b="0" i="0" dirty="0">
                <a:effectLst/>
                <a:latin typeface="tuiText"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1400" b="0" i="0" dirty="0">
                <a:effectLst/>
                <a:latin typeface="tuiText"/>
              </a:rPr>
              <a:t>выручка;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1400" b="0" i="0" dirty="0">
                <a:effectLst/>
                <a:latin typeface="tuiText"/>
              </a:rPr>
              <a:t>валовая прибыль;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1400" b="0" i="0" dirty="0">
                <a:effectLst/>
                <a:latin typeface="tuiText"/>
              </a:rPr>
              <a:t>чистая прибыль;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1400" b="0" i="0" dirty="0">
                <a:effectLst/>
                <a:latin typeface="tuiText"/>
              </a:rPr>
              <a:t>чистый убыток;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1400" b="0" i="0" dirty="0">
                <a:effectLst/>
                <a:latin typeface="tuiText"/>
              </a:rPr>
              <a:t>персонал.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effectLst/>
                <a:latin typeface="tuiText"/>
              </a:rPr>
              <a:t>Рассчитан показатель финансовой эффективности.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effectLst/>
                <a:latin typeface="tuiText"/>
              </a:rPr>
              <a:t>Выбраны </a:t>
            </a:r>
            <a:r>
              <a:rPr lang="ru-RU" sz="1400" b="1" i="0" dirty="0">
                <a:effectLst/>
                <a:latin typeface="tuiText"/>
              </a:rPr>
              <a:t>ТОП-6 заведений </a:t>
            </a:r>
            <a:r>
              <a:rPr lang="ru-RU" sz="1400" b="0" i="0" dirty="0">
                <a:effectLst/>
                <a:latin typeface="tuiText"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1400" b="1" i="0" dirty="0">
                <a:effectLst/>
                <a:latin typeface="tuiText"/>
              </a:rPr>
              <a:t>2 максимальных </a:t>
            </a:r>
            <a:r>
              <a:rPr lang="ru-RU" sz="1400" b="0" i="0" dirty="0">
                <a:effectLst/>
                <a:latin typeface="tuiText"/>
              </a:rPr>
              <a:t>;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1400" b="1" i="0" dirty="0">
                <a:effectLst/>
                <a:latin typeface="tuiText"/>
              </a:rPr>
              <a:t>2 средних </a:t>
            </a:r>
            <a:r>
              <a:rPr lang="ru-RU" sz="1400" b="0" i="0" dirty="0">
                <a:effectLst/>
                <a:latin typeface="tuiText"/>
              </a:rPr>
              <a:t>;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1400" b="1" i="0" dirty="0">
                <a:effectLst/>
                <a:latin typeface="tuiText"/>
              </a:rPr>
              <a:t>2 минимальных </a:t>
            </a:r>
            <a:r>
              <a:rPr lang="ru-RU" sz="1400" b="0" i="0" dirty="0">
                <a:effectLst/>
                <a:latin typeface="tuiText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effectLst/>
                <a:latin typeface="tuiText"/>
              </a:rPr>
              <a:t>Для ТОП-6 подготовлена поквартальная детализация.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effectLst/>
                <a:latin typeface="tuiText"/>
              </a:rPr>
              <a:t>Построены графики динамики выручки и финансового результата.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effectLst/>
                <a:latin typeface="tuiText"/>
              </a:rPr>
              <a:t>Лучшие показатели: </a:t>
            </a:r>
            <a:r>
              <a:rPr lang="ru-RU" sz="1400" b="1" i="0" dirty="0" err="1">
                <a:effectLst/>
                <a:latin typeface="tuiText"/>
              </a:rPr>
              <a:t>Чико</a:t>
            </a:r>
            <a:r>
              <a:rPr lang="ru-RU" sz="1400" b="1" i="0" dirty="0">
                <a:effectLst/>
                <a:latin typeface="tuiText"/>
              </a:rPr>
              <a:t> </a:t>
            </a:r>
            <a:r>
              <a:rPr lang="ru-RU" sz="1400" b="0" i="0" dirty="0">
                <a:effectLst/>
                <a:latin typeface="tuiText"/>
              </a:rPr>
              <a:t>, </a:t>
            </a:r>
            <a:r>
              <a:rPr lang="ru-RU" sz="1400" b="1" i="0" dirty="0">
                <a:effectLst/>
                <a:latin typeface="tuiText"/>
              </a:rPr>
              <a:t>Мамули </a:t>
            </a:r>
            <a:r>
              <a:rPr lang="ru-RU" sz="1400" b="0" i="0" dirty="0">
                <a:effectLst/>
                <a:latin typeface="tuiText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dirty="0">
                <a:latin typeface="tuiText"/>
              </a:rPr>
              <a:t>Средние показатели: </a:t>
            </a:r>
            <a:r>
              <a:rPr lang="ru-RU" sz="1400" b="1" i="0" dirty="0">
                <a:effectLst/>
                <a:latin typeface="tuiText"/>
              </a:rPr>
              <a:t>Библиотека кофе и Как дома;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effectLst/>
                <a:latin typeface="tuiText"/>
              </a:rPr>
              <a:t>Минимальные показатели: </a:t>
            </a:r>
            <a:r>
              <a:rPr lang="en-US" sz="1400" b="1" i="0" dirty="0" err="1">
                <a:effectLst/>
                <a:latin typeface="tuiText"/>
              </a:rPr>
              <a:t>CyberX</a:t>
            </a:r>
            <a:r>
              <a:rPr lang="en-US" sz="1400" b="1" i="0" dirty="0">
                <a:effectLst/>
                <a:latin typeface="tuiText"/>
              </a:rPr>
              <a:t> </a:t>
            </a:r>
            <a:r>
              <a:rPr lang="en-US" sz="1400" b="0" i="0" dirty="0">
                <a:effectLst/>
                <a:latin typeface="tuiText"/>
              </a:rPr>
              <a:t>, </a:t>
            </a:r>
            <a:r>
              <a:rPr lang="en-US" sz="1400" b="1" i="0" dirty="0" err="1">
                <a:effectLst/>
                <a:latin typeface="tuiText"/>
              </a:rPr>
              <a:t>Morkoffka</a:t>
            </a:r>
            <a:r>
              <a:rPr lang="en-US" sz="1400" b="1" i="0" dirty="0">
                <a:effectLst/>
                <a:latin typeface="tuiText"/>
              </a:rPr>
              <a:t> </a:t>
            </a:r>
            <a:r>
              <a:rPr lang="en-US" sz="1400" b="0" i="0" dirty="0">
                <a:effectLst/>
                <a:latin typeface="tuiText"/>
              </a:rPr>
              <a:t>.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6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ru-RU" sz="1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34600" y="6052680"/>
            <a:ext cx="34254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fld id="{5360BE5D-4237-437B-B207-2C7F3820215A}" type="slidenum">
              <a:rPr lang="ru-RU" sz="2400" b="0" strike="noStrike" spc="-1">
                <a:solidFill>
                  <a:srgbClr val="000000"/>
                </a:solidFill>
                <a:latin typeface="Times New Roman"/>
              </a:rPr>
              <a:t>10</a:t>
            </a:fld>
            <a:endParaRPr lang="ru-RU" sz="240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881A70B-85FC-0FC3-D06D-52E96BB2A7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7168" y="2055381"/>
            <a:ext cx="4332242" cy="3039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9956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tile tx="0" ty="0" sx="100000" sy="100000" algn="ctr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Прямоугольник 43"/>
          <p:cNvSpPr/>
          <p:nvPr/>
        </p:nvSpPr>
        <p:spPr>
          <a:xfrm>
            <a:off x="364680" y="273600"/>
            <a:ext cx="8228880" cy="44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2400" b="1" dirty="0"/>
              <a:t>Анализ финансовой эффективности предприятий</a:t>
            </a:r>
            <a:endParaRPr lang="ru-RU" sz="21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74600" y="6052680"/>
            <a:ext cx="34254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fld id="{4A200D93-156D-417F-9D95-9F60B1CEC270}" type="slidenum">
              <a:rPr lang="ru-RU" sz="2400" b="0" strike="noStrike" spc="-1">
                <a:solidFill>
                  <a:srgbClr val="000000"/>
                </a:solidFill>
                <a:latin typeface="Times New Roman"/>
              </a:rPr>
              <a:t>11</a:t>
            </a:fld>
            <a:endParaRPr lang="ru-RU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942392E-E461-6154-6A34-C13E14223F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600" y="838572"/>
            <a:ext cx="4572524" cy="2545125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EB95D0B-044D-8F64-6707-E80550F70A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7124" y="2819906"/>
            <a:ext cx="4288536" cy="254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1180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tile tx="0" ty="0" sx="100000" sy="100000" algn="ctr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11120" y="2090880"/>
            <a:ext cx="8228880" cy="1509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strike="noStrike" spc="-1">
                <a:solidFill>
                  <a:srgbClr val="000000"/>
                </a:solidFill>
                <a:latin typeface="Arial"/>
              </a:rPr>
              <a:t>Спасибо за Внимание!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BackgroundTexture" descr="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6616" y="237744"/>
            <a:ext cx="8229600" cy="530352"/>
          </a:xfrm>
          <a:noFill/>
          <a:ln>
            <a:noFill/>
          </a:ln>
        </p:spPr>
        <p:txBody>
          <a:bodyPr anchor="ctr"/>
          <a:lstStyle/>
          <a:p>
            <a:pPr algn="ctr"/>
            <a:r>
              <a:rPr sz="2200" b="1">
                <a:solidFill>
                  <a:srgbClr val="000000"/>
                </a:solidFill>
                <a:latin typeface="Calibri"/>
              </a:rPr>
              <a:t>Финансовая эффективность заведений Горячего Ключа</a:t>
            </a:r>
          </a:p>
        </p:txBody>
      </p:sp>
      <p:sp>
        <p:nvSpPr>
          <p:cNvPr id="4" name="Rectangle 3"/>
          <p:cNvSpPr/>
          <p:nvPr/>
        </p:nvSpPr>
        <p:spPr>
          <a:xfrm>
            <a:off x="3611880" y="896112"/>
            <a:ext cx="5029200" cy="35661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1200" b="0">
                <a:solidFill>
                  <a:srgbClr val="000000"/>
                </a:solidFill>
                <a:latin typeface="Times New Roman"/>
              </a:rPr>
              <a:t>Подтвержденные ИНН | период 2023–2025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298448"/>
            <a:ext cx="4526280" cy="142646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l"/>
            <a:r>
              <a:rPr sz="1370" b="1">
                <a:solidFill>
                  <a:srgbClr val="000000"/>
                </a:solidFill>
                <a:latin typeface="Times New Roman"/>
              </a:rPr>
              <a:t>Ход работы:</a:t>
            </a:r>
          </a:p>
          <a:p>
            <a:pPr algn="l"/>
            <a:r>
              <a:rPr sz="1220" b="0">
                <a:solidFill>
                  <a:srgbClr val="000000"/>
                </a:solidFill>
                <a:latin typeface="Times New Roman"/>
              </a:rPr>
              <a:t>Сопоставлены заведения с ИНН и карточками контрагентов.</a:t>
            </a:r>
          </a:p>
          <a:p>
            <a:pPr algn="l"/>
            <a:r>
              <a:rPr sz="1220" b="0">
                <a:solidFill>
                  <a:srgbClr val="000000"/>
                </a:solidFill>
                <a:latin typeface="Times New Roman"/>
              </a:rPr>
              <a:t>Сведены показатели за 2023–2025 гг.: выручка, валовая прибыль, чистый результат и персонал.</a:t>
            </a:r>
          </a:p>
          <a:p>
            <a:pPr algn="l"/>
            <a:r>
              <a:rPr sz="1220" b="0">
                <a:solidFill>
                  <a:srgbClr val="000000"/>
                </a:solidFill>
                <a:latin typeface="Times New Roman"/>
              </a:rPr>
              <a:t>Рассчитан показатель финансовой эффективности.</a:t>
            </a:r>
          </a:p>
          <a:p>
            <a:pPr algn="l"/>
            <a:r>
              <a:rPr sz="1220" b="0">
                <a:solidFill>
                  <a:srgbClr val="000000"/>
                </a:solidFill>
                <a:latin typeface="Times New Roman"/>
              </a:rPr>
              <a:t>Итоговая выборка: 6 заведений — 2 максимальных, 2 средних, 2 минимальных.</a:t>
            </a:r>
          </a:p>
        </p:txBody>
      </p:sp>
      <p:sp>
        <p:nvSpPr>
          <p:cNvPr id="6" name="Rectangle 5"/>
          <p:cNvSpPr/>
          <p:nvPr/>
        </p:nvSpPr>
        <p:spPr>
          <a:xfrm>
            <a:off x="4773168" y="1307592"/>
            <a:ext cx="4160520" cy="12344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l"/>
            <a:r>
              <a:rPr sz="1370" b="1">
                <a:solidFill>
                  <a:srgbClr val="000000"/>
                </a:solidFill>
                <a:latin typeface="Times New Roman"/>
              </a:rPr>
              <a:t>Лучшие показатели: Авокадо, RollBerry.</a:t>
            </a:r>
          </a:p>
          <a:p>
            <a:pPr algn="l"/>
            <a:r>
              <a:rPr sz="1220" b="0">
                <a:solidFill>
                  <a:srgbClr val="000000"/>
                </a:solidFill>
                <a:latin typeface="Times New Roman"/>
              </a:rPr>
              <a:t>Средние показатели: Личи-пицца, Харчевня.</a:t>
            </a:r>
          </a:p>
          <a:p>
            <a:pPr algn="l"/>
            <a:r>
              <a:rPr sz="1220" b="0">
                <a:solidFill>
                  <a:srgbClr val="000000"/>
                </a:solidFill>
                <a:latin typeface="Times New Roman"/>
              </a:rPr>
              <a:t>Минимальные показатели: Шустрый Лис, Старый Замок.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82880" y="2980944"/>
          <a:ext cx="822960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"/>
                <a:gridCol w="1005840"/>
                <a:gridCol w="1417320"/>
                <a:gridCol w="1005840"/>
                <a:gridCol w="777240"/>
                <a:gridCol w="777240"/>
                <a:gridCol w="777240"/>
                <a:gridCol w="777240"/>
                <a:gridCol w="502920"/>
                <a:gridCol w="621792"/>
              </a:tblGrid>
              <a:tr h="329184">
                <a:tc>
                  <a:txBody>
                    <a:bodyPr wrap="square" anchor="ctr"/>
                    <a:lstStyle/>
                    <a:p>
                      <a:pPr algn="ctr"/>
                      <a:r>
                        <a:rPr sz="680" b="1">
                          <a:solidFill>
                            <a:srgbClr val="000000"/>
                          </a:solidFill>
                          <a:latin typeface="Calibri"/>
                        </a:rPr>
                        <a:t>Группа</a:t>
                      </a:r>
                    </a:p>
                  </a:txBody>
                  <a:tcPr marL="27432" marR="27432" marT="18288" marB="18288">
                    <a:solidFill>
                      <a:srgbClr val="E0D6C0"/>
                    </a:solidFill>
                    <a:lnL w="5000">
                      <a:solidFill>
                        <a:srgbClr val="8B7A5E"/>
                      </a:solidFill>
                    </a:lnL>
                    <a:lnR w="5000">
                      <a:solidFill>
                        <a:srgbClr val="8B7A5E"/>
                      </a:solidFill>
                    </a:lnR>
                    <a:lnT w="5000">
                      <a:solidFill>
                        <a:srgbClr val="8B7A5E"/>
                      </a:solidFill>
                    </a:lnT>
                    <a:lnB w="5000">
                      <a:solidFill>
                        <a:srgbClr val="8B7A5E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680" b="1">
                          <a:solidFill>
                            <a:srgbClr val="000000"/>
                          </a:solidFill>
                          <a:latin typeface="Calibri"/>
                        </a:rPr>
                        <a:t>Заведение</a:t>
                      </a:r>
                    </a:p>
                  </a:txBody>
                  <a:tcPr marL="27432" marR="27432" marT="18288" marB="18288">
                    <a:solidFill>
                      <a:srgbClr val="E0D6C0"/>
                    </a:solidFill>
                    <a:lnL w="5000">
                      <a:solidFill>
                        <a:srgbClr val="8B7A5E"/>
                      </a:solidFill>
                    </a:lnL>
                    <a:lnR w="5000">
                      <a:solidFill>
                        <a:srgbClr val="8B7A5E"/>
                      </a:solidFill>
                    </a:lnR>
                    <a:lnT w="5000">
                      <a:solidFill>
                        <a:srgbClr val="8B7A5E"/>
                      </a:solidFill>
                    </a:lnT>
                    <a:lnB w="5000">
                      <a:solidFill>
                        <a:srgbClr val="8B7A5E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680" b="1">
                          <a:solidFill>
                            <a:srgbClr val="000000"/>
                          </a:solidFill>
                          <a:latin typeface="Calibri"/>
                        </a:rPr>
                        <a:t>Контрагент</a:t>
                      </a:r>
                    </a:p>
                  </a:txBody>
                  <a:tcPr marL="27432" marR="27432" marT="18288" marB="18288">
                    <a:solidFill>
                      <a:srgbClr val="E0D6C0"/>
                    </a:solidFill>
                    <a:lnL w="5000">
                      <a:solidFill>
                        <a:srgbClr val="8B7A5E"/>
                      </a:solidFill>
                    </a:lnL>
                    <a:lnR w="5000">
                      <a:solidFill>
                        <a:srgbClr val="8B7A5E"/>
                      </a:solidFill>
                    </a:lnR>
                    <a:lnT w="5000">
                      <a:solidFill>
                        <a:srgbClr val="8B7A5E"/>
                      </a:solidFill>
                    </a:lnT>
                    <a:lnB w="5000">
                      <a:solidFill>
                        <a:srgbClr val="8B7A5E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680" b="1">
                          <a:solidFill>
                            <a:srgbClr val="000000"/>
                          </a:solidFill>
                          <a:latin typeface="Calibri"/>
                        </a:rPr>
                        <a:t>ИНН</a:t>
                      </a:r>
                    </a:p>
                  </a:txBody>
                  <a:tcPr marL="27432" marR="27432" marT="18288" marB="18288">
                    <a:solidFill>
                      <a:srgbClr val="E0D6C0"/>
                    </a:solidFill>
                    <a:lnL w="5000">
                      <a:solidFill>
                        <a:srgbClr val="8B7A5E"/>
                      </a:solidFill>
                    </a:lnL>
                    <a:lnR w="5000">
                      <a:solidFill>
                        <a:srgbClr val="8B7A5E"/>
                      </a:solidFill>
                    </a:lnR>
                    <a:lnT w="5000">
                      <a:solidFill>
                        <a:srgbClr val="8B7A5E"/>
                      </a:solidFill>
                    </a:lnT>
                    <a:lnB w="5000">
                      <a:solidFill>
                        <a:srgbClr val="8B7A5E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680" b="1">
                          <a:solidFill>
                            <a:srgbClr val="000000"/>
                          </a:solidFill>
                          <a:latin typeface="Calibri"/>
                        </a:rPr>
                        <a:t>Выручка'25</a:t>
                      </a:r>
                    </a:p>
                  </a:txBody>
                  <a:tcPr marL="27432" marR="27432" marT="18288" marB="18288">
                    <a:solidFill>
                      <a:srgbClr val="E0D6C0"/>
                    </a:solidFill>
                    <a:lnL w="5000">
                      <a:solidFill>
                        <a:srgbClr val="8B7A5E"/>
                      </a:solidFill>
                    </a:lnL>
                    <a:lnR w="5000">
                      <a:solidFill>
                        <a:srgbClr val="8B7A5E"/>
                      </a:solidFill>
                    </a:lnR>
                    <a:lnT w="5000">
                      <a:solidFill>
                        <a:srgbClr val="8B7A5E"/>
                      </a:solidFill>
                    </a:lnT>
                    <a:lnB w="5000">
                      <a:solidFill>
                        <a:srgbClr val="8B7A5E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680" b="1">
                          <a:solidFill>
                            <a:srgbClr val="000000"/>
                          </a:solidFill>
                          <a:latin typeface="Calibri"/>
                        </a:rPr>
                        <a:t>Вал.</a:t>
                      </a:r>
                    </a:p>
                    <a:p>
                      <a:pPr algn="ctr"/>
                      <a:r>
                        <a:rPr sz="680" b="1">
                          <a:solidFill>
                            <a:srgbClr val="000000"/>
                          </a:solidFill>
                          <a:latin typeface="Calibri"/>
                        </a:rPr>
                        <a:t>прибыль</a:t>
                      </a:r>
                    </a:p>
                  </a:txBody>
                  <a:tcPr marL="27432" marR="27432" marT="18288" marB="18288">
                    <a:solidFill>
                      <a:srgbClr val="E0D6C0"/>
                    </a:solidFill>
                    <a:lnL w="5000">
                      <a:solidFill>
                        <a:srgbClr val="8B7A5E"/>
                      </a:solidFill>
                    </a:lnL>
                    <a:lnR w="5000">
                      <a:solidFill>
                        <a:srgbClr val="8B7A5E"/>
                      </a:solidFill>
                    </a:lnR>
                    <a:lnT w="5000">
                      <a:solidFill>
                        <a:srgbClr val="8B7A5E"/>
                      </a:solidFill>
                    </a:lnT>
                    <a:lnB w="5000">
                      <a:solidFill>
                        <a:srgbClr val="8B7A5E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680" b="1">
                          <a:solidFill>
                            <a:srgbClr val="000000"/>
                          </a:solidFill>
                          <a:latin typeface="Calibri"/>
                        </a:rPr>
                        <a:t>Чист.</a:t>
                      </a:r>
                    </a:p>
                    <a:p>
                      <a:pPr algn="ctr"/>
                      <a:r>
                        <a:rPr sz="680" b="1">
                          <a:solidFill>
                            <a:srgbClr val="000000"/>
                          </a:solidFill>
                          <a:latin typeface="Calibri"/>
                        </a:rPr>
                        <a:t>прибыль</a:t>
                      </a:r>
                    </a:p>
                  </a:txBody>
                  <a:tcPr marL="27432" marR="27432" marT="18288" marB="18288">
                    <a:solidFill>
                      <a:srgbClr val="E0D6C0"/>
                    </a:solidFill>
                    <a:lnL w="5000">
                      <a:solidFill>
                        <a:srgbClr val="8B7A5E"/>
                      </a:solidFill>
                    </a:lnL>
                    <a:lnR w="5000">
                      <a:solidFill>
                        <a:srgbClr val="8B7A5E"/>
                      </a:solidFill>
                    </a:lnR>
                    <a:lnT w="5000">
                      <a:solidFill>
                        <a:srgbClr val="8B7A5E"/>
                      </a:solidFill>
                    </a:lnT>
                    <a:lnB w="5000">
                      <a:solidFill>
                        <a:srgbClr val="8B7A5E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680" b="1">
                          <a:solidFill>
                            <a:srgbClr val="000000"/>
                          </a:solidFill>
                          <a:latin typeface="Calibri"/>
                        </a:rPr>
                        <a:t>Чист.</a:t>
                      </a:r>
                    </a:p>
                    <a:p>
                      <a:pPr algn="ctr"/>
                      <a:r>
                        <a:rPr sz="680" b="1">
                          <a:solidFill>
                            <a:srgbClr val="000000"/>
                          </a:solidFill>
                          <a:latin typeface="Calibri"/>
                        </a:rPr>
                        <a:t>убыток</a:t>
                      </a:r>
                    </a:p>
                  </a:txBody>
                  <a:tcPr marL="27432" marR="27432" marT="18288" marB="18288">
                    <a:solidFill>
                      <a:srgbClr val="E0D6C0"/>
                    </a:solidFill>
                    <a:lnL w="5000">
                      <a:solidFill>
                        <a:srgbClr val="8B7A5E"/>
                      </a:solidFill>
                    </a:lnL>
                    <a:lnR w="5000">
                      <a:solidFill>
                        <a:srgbClr val="8B7A5E"/>
                      </a:solidFill>
                    </a:lnR>
                    <a:lnT w="5000">
                      <a:solidFill>
                        <a:srgbClr val="8B7A5E"/>
                      </a:solidFill>
                    </a:lnT>
                    <a:lnB w="5000">
                      <a:solidFill>
                        <a:srgbClr val="8B7A5E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680" b="1">
                          <a:solidFill>
                            <a:srgbClr val="000000"/>
                          </a:solidFill>
                          <a:latin typeface="Calibri"/>
                        </a:rPr>
                        <a:t>Перс.</a:t>
                      </a:r>
                    </a:p>
                  </a:txBody>
                  <a:tcPr marL="27432" marR="27432" marT="18288" marB="18288">
                    <a:solidFill>
                      <a:srgbClr val="E0D6C0"/>
                    </a:solidFill>
                    <a:lnL w="5000">
                      <a:solidFill>
                        <a:srgbClr val="8B7A5E"/>
                      </a:solidFill>
                    </a:lnL>
                    <a:lnR w="5000">
                      <a:solidFill>
                        <a:srgbClr val="8B7A5E"/>
                      </a:solidFill>
                    </a:lnR>
                    <a:lnT w="5000">
                      <a:solidFill>
                        <a:srgbClr val="8B7A5E"/>
                      </a:solidFill>
                    </a:lnT>
                    <a:lnB w="5000">
                      <a:solidFill>
                        <a:srgbClr val="8B7A5E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680" b="1">
                          <a:solidFill>
                            <a:srgbClr val="000000"/>
                          </a:solidFill>
                          <a:latin typeface="Calibri"/>
                        </a:rPr>
                        <a:t>Эфф., %</a:t>
                      </a:r>
                    </a:p>
                  </a:txBody>
                  <a:tcPr marL="27432" marR="27432" marT="18288" marB="18288">
                    <a:solidFill>
                      <a:srgbClr val="E0D6C0"/>
                    </a:solidFill>
                    <a:lnL w="5000">
                      <a:solidFill>
                        <a:srgbClr val="8B7A5E"/>
                      </a:solidFill>
                    </a:lnL>
                    <a:lnR w="5000">
                      <a:solidFill>
                        <a:srgbClr val="8B7A5E"/>
                      </a:solidFill>
                    </a:lnR>
                    <a:lnT w="5000">
                      <a:solidFill>
                        <a:srgbClr val="8B7A5E"/>
                      </a:solidFill>
                    </a:lnT>
                    <a:lnB w="5000">
                      <a:solidFill>
                        <a:srgbClr val="8B7A5E"/>
                      </a:solidFill>
                    </a:lnB>
                  </a:tcPr>
                </a:tc>
              </a:tr>
              <a:tr h="384048">
                <a:tc>
                  <a:txBody>
                    <a:bodyPr wrap="square" anchor="ctr"/>
                    <a:lstStyle/>
                    <a:p>
                      <a:pPr algn="ctr"/>
                      <a:r>
                        <a:rPr sz="640" b="0">
                          <a:solidFill>
                            <a:srgbClr val="000000"/>
                          </a:solidFill>
                          <a:latin typeface="Calibri"/>
                        </a:rPr>
                        <a:t>2 макс</a:t>
                      </a:r>
                    </a:p>
                  </a:txBody>
                  <a:tcPr marL="27432" marR="27432" marT="18288" marB="18288">
                    <a:solidFill>
                      <a:srgbClr val="FAF8F1"/>
                    </a:solidFill>
                    <a:lnL w="5000">
                      <a:solidFill>
                        <a:srgbClr val="8B7A5E"/>
                      </a:solidFill>
                    </a:lnL>
                    <a:lnR w="5000">
                      <a:solidFill>
                        <a:srgbClr val="8B7A5E"/>
                      </a:solidFill>
                    </a:lnR>
                    <a:lnT w="5000">
                      <a:solidFill>
                        <a:srgbClr val="8B7A5E"/>
                      </a:solidFill>
                    </a:lnT>
                    <a:lnB w="5000">
                      <a:solidFill>
                        <a:srgbClr val="8B7A5E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640" b="0">
                          <a:solidFill>
                            <a:srgbClr val="000000"/>
                          </a:solidFill>
                          <a:latin typeface="Calibri"/>
                        </a:rPr>
                        <a:t>Авокадо</a:t>
                      </a:r>
                    </a:p>
                  </a:txBody>
                  <a:tcPr marL="27432" marR="27432" marT="18288" marB="18288">
                    <a:solidFill>
                      <a:srgbClr val="FAF8F1"/>
                    </a:solidFill>
                    <a:lnL w="5000">
                      <a:solidFill>
                        <a:srgbClr val="8B7A5E"/>
                      </a:solidFill>
                    </a:lnL>
                    <a:lnR w="5000">
                      <a:solidFill>
                        <a:srgbClr val="8B7A5E"/>
                      </a:solidFill>
                    </a:lnR>
                    <a:lnT w="5000">
                      <a:solidFill>
                        <a:srgbClr val="8B7A5E"/>
                      </a:solidFill>
                    </a:lnT>
                    <a:lnB w="5000">
                      <a:solidFill>
                        <a:srgbClr val="8B7A5E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640" b="0">
                          <a:solidFill>
                            <a:srgbClr val="000000"/>
                          </a:solidFill>
                          <a:latin typeface="Calibri"/>
                        </a:rPr>
                        <a:t>ИП Садретдинова Ю.И.</a:t>
                      </a:r>
                    </a:p>
                  </a:txBody>
                  <a:tcPr marL="27432" marR="27432" marT="18288" marB="18288">
                    <a:solidFill>
                      <a:srgbClr val="FAF8F1"/>
                    </a:solidFill>
                    <a:lnL w="5000">
                      <a:solidFill>
                        <a:srgbClr val="8B7A5E"/>
                      </a:solidFill>
                    </a:lnL>
                    <a:lnR w="5000">
                      <a:solidFill>
                        <a:srgbClr val="8B7A5E"/>
                      </a:solidFill>
                    </a:lnR>
                    <a:lnT w="5000">
                      <a:solidFill>
                        <a:srgbClr val="8B7A5E"/>
                      </a:solidFill>
                    </a:lnT>
                    <a:lnB w="5000">
                      <a:solidFill>
                        <a:srgbClr val="8B7A5E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640" b="0">
                          <a:solidFill>
                            <a:srgbClr val="000000"/>
                          </a:solidFill>
                          <a:latin typeface="Calibri"/>
                        </a:rPr>
                        <a:t>860324260016</a:t>
                      </a:r>
                    </a:p>
                  </a:txBody>
                  <a:tcPr marL="27432" marR="27432" marT="18288" marB="18288">
                    <a:solidFill>
                      <a:srgbClr val="FAF8F1"/>
                    </a:solidFill>
                    <a:lnL w="5000">
                      <a:solidFill>
                        <a:srgbClr val="8B7A5E"/>
                      </a:solidFill>
                    </a:lnL>
                    <a:lnR w="5000">
                      <a:solidFill>
                        <a:srgbClr val="8B7A5E"/>
                      </a:solidFill>
                    </a:lnR>
                    <a:lnT w="5000">
                      <a:solidFill>
                        <a:srgbClr val="8B7A5E"/>
                      </a:solidFill>
                    </a:lnT>
                    <a:lnB w="5000">
                      <a:solidFill>
                        <a:srgbClr val="8B7A5E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640" b="0">
                          <a:solidFill>
                            <a:srgbClr val="000000"/>
                          </a:solidFill>
                          <a:latin typeface="Calibri"/>
                        </a:rPr>
                        <a:t>31,2</a:t>
                      </a:r>
                    </a:p>
                  </a:txBody>
                  <a:tcPr marL="27432" marR="27432" marT="18288" marB="18288">
                    <a:solidFill>
                      <a:srgbClr val="FAF8F1"/>
                    </a:solidFill>
                    <a:lnL w="5000">
                      <a:solidFill>
                        <a:srgbClr val="8B7A5E"/>
                      </a:solidFill>
                    </a:lnL>
                    <a:lnR w="5000">
                      <a:solidFill>
                        <a:srgbClr val="8B7A5E"/>
                      </a:solidFill>
                    </a:lnR>
                    <a:lnT w="5000">
                      <a:solidFill>
                        <a:srgbClr val="8B7A5E"/>
                      </a:solidFill>
                    </a:lnT>
                    <a:lnB w="5000">
                      <a:solidFill>
                        <a:srgbClr val="8B7A5E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640" b="0">
                          <a:solidFill>
                            <a:srgbClr val="000000"/>
                          </a:solidFill>
                          <a:latin typeface="Calibri"/>
                        </a:rPr>
                        <a:t>9,4</a:t>
                      </a:r>
                    </a:p>
                  </a:txBody>
                  <a:tcPr marL="27432" marR="27432" marT="18288" marB="18288">
                    <a:solidFill>
                      <a:srgbClr val="FAF8F1"/>
                    </a:solidFill>
                    <a:lnL w="5000">
                      <a:solidFill>
                        <a:srgbClr val="8B7A5E"/>
                      </a:solidFill>
                    </a:lnL>
                    <a:lnR w="5000">
                      <a:solidFill>
                        <a:srgbClr val="8B7A5E"/>
                      </a:solidFill>
                    </a:lnR>
                    <a:lnT w="5000">
                      <a:solidFill>
                        <a:srgbClr val="8B7A5E"/>
                      </a:solidFill>
                    </a:lnT>
                    <a:lnB w="5000">
                      <a:solidFill>
                        <a:srgbClr val="8B7A5E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640" b="0">
                          <a:solidFill>
                            <a:srgbClr val="000000"/>
                          </a:solidFill>
                          <a:latin typeface="Calibri"/>
                        </a:rPr>
                        <a:t>8,2</a:t>
                      </a:r>
                    </a:p>
                  </a:txBody>
                  <a:tcPr marL="27432" marR="27432" marT="18288" marB="18288">
                    <a:solidFill>
                      <a:srgbClr val="FAF8F1"/>
                    </a:solidFill>
                    <a:lnL w="5000">
                      <a:solidFill>
                        <a:srgbClr val="8B7A5E"/>
                      </a:solidFill>
                    </a:lnL>
                    <a:lnR w="5000">
                      <a:solidFill>
                        <a:srgbClr val="8B7A5E"/>
                      </a:solidFill>
                    </a:lnR>
                    <a:lnT w="5000">
                      <a:solidFill>
                        <a:srgbClr val="8B7A5E"/>
                      </a:solidFill>
                    </a:lnT>
                    <a:lnB w="5000">
                      <a:solidFill>
                        <a:srgbClr val="8B7A5E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640" b="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27432" marR="27432" marT="18288" marB="18288">
                    <a:solidFill>
                      <a:srgbClr val="FAF8F1"/>
                    </a:solidFill>
                    <a:lnL w="5000">
                      <a:solidFill>
                        <a:srgbClr val="8B7A5E"/>
                      </a:solidFill>
                    </a:lnL>
                    <a:lnR w="5000">
                      <a:solidFill>
                        <a:srgbClr val="8B7A5E"/>
                      </a:solidFill>
                    </a:lnR>
                    <a:lnT w="5000">
                      <a:solidFill>
                        <a:srgbClr val="8B7A5E"/>
                      </a:solidFill>
                    </a:lnT>
                    <a:lnB w="5000">
                      <a:solidFill>
                        <a:srgbClr val="8B7A5E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640" b="0">
                          <a:solidFill>
                            <a:srgbClr val="000000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27432" marR="27432" marT="18288" marB="18288">
                    <a:solidFill>
                      <a:srgbClr val="FAF8F1"/>
                    </a:solidFill>
                    <a:lnL w="5000">
                      <a:solidFill>
                        <a:srgbClr val="8B7A5E"/>
                      </a:solidFill>
                    </a:lnL>
                    <a:lnR w="5000">
                      <a:solidFill>
                        <a:srgbClr val="8B7A5E"/>
                      </a:solidFill>
                    </a:lnR>
                    <a:lnT w="5000">
                      <a:solidFill>
                        <a:srgbClr val="8B7A5E"/>
                      </a:solidFill>
                    </a:lnT>
                    <a:lnB w="5000">
                      <a:solidFill>
                        <a:srgbClr val="8B7A5E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640" b="0">
                          <a:solidFill>
                            <a:srgbClr val="000000"/>
                          </a:solidFill>
                          <a:latin typeface="Calibri"/>
                        </a:rPr>
                        <a:t>95,0</a:t>
                      </a:r>
                    </a:p>
                  </a:txBody>
                  <a:tcPr marL="27432" marR="27432" marT="18288" marB="18288">
                    <a:solidFill>
                      <a:srgbClr val="FAF8F1"/>
                    </a:solidFill>
                    <a:lnL w="5000">
                      <a:solidFill>
                        <a:srgbClr val="8B7A5E"/>
                      </a:solidFill>
                    </a:lnL>
                    <a:lnR w="5000">
                      <a:solidFill>
                        <a:srgbClr val="8B7A5E"/>
                      </a:solidFill>
                    </a:lnR>
                    <a:lnT w="5000">
                      <a:solidFill>
                        <a:srgbClr val="8B7A5E"/>
                      </a:solidFill>
                    </a:lnT>
                    <a:lnB w="5000">
                      <a:solidFill>
                        <a:srgbClr val="8B7A5E"/>
                      </a:solidFill>
                    </a:lnB>
                  </a:tcPr>
                </a:tc>
              </a:tr>
              <a:tr h="384048">
                <a:tc>
                  <a:txBody>
                    <a:bodyPr wrap="square" anchor="ctr"/>
                    <a:lstStyle/>
                    <a:p>
                      <a:pPr algn="ctr"/>
                      <a:r>
                        <a:rPr sz="640" b="0">
                          <a:solidFill>
                            <a:srgbClr val="000000"/>
                          </a:solidFill>
                          <a:latin typeface="Calibri"/>
                        </a:rPr>
                        <a:t>2 макс</a:t>
                      </a:r>
                    </a:p>
                  </a:txBody>
                  <a:tcPr marL="27432" marR="27432" marT="18288" marB="18288">
                    <a:solidFill>
                      <a:srgbClr val="FAF8F1"/>
                    </a:solidFill>
                    <a:lnL w="5000">
                      <a:solidFill>
                        <a:srgbClr val="8B7A5E"/>
                      </a:solidFill>
                    </a:lnL>
                    <a:lnR w="5000">
                      <a:solidFill>
                        <a:srgbClr val="8B7A5E"/>
                      </a:solidFill>
                    </a:lnR>
                    <a:lnT w="5000">
                      <a:solidFill>
                        <a:srgbClr val="8B7A5E"/>
                      </a:solidFill>
                    </a:lnT>
                    <a:lnB w="5000">
                      <a:solidFill>
                        <a:srgbClr val="8B7A5E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640" b="0">
                          <a:solidFill>
                            <a:srgbClr val="000000"/>
                          </a:solidFill>
                          <a:latin typeface="Calibri"/>
                        </a:rPr>
                        <a:t>RollBerry</a:t>
                      </a:r>
                    </a:p>
                  </a:txBody>
                  <a:tcPr marL="27432" marR="27432" marT="18288" marB="18288">
                    <a:solidFill>
                      <a:srgbClr val="FAF8F1"/>
                    </a:solidFill>
                    <a:lnL w="5000">
                      <a:solidFill>
                        <a:srgbClr val="8B7A5E"/>
                      </a:solidFill>
                    </a:lnL>
                    <a:lnR w="5000">
                      <a:solidFill>
                        <a:srgbClr val="8B7A5E"/>
                      </a:solidFill>
                    </a:lnR>
                    <a:lnT w="5000">
                      <a:solidFill>
                        <a:srgbClr val="8B7A5E"/>
                      </a:solidFill>
                    </a:lnT>
                    <a:lnB w="5000">
                      <a:solidFill>
                        <a:srgbClr val="8B7A5E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640" b="0">
                          <a:solidFill>
                            <a:srgbClr val="000000"/>
                          </a:solidFill>
                          <a:latin typeface="Calibri"/>
                        </a:rPr>
                        <a:t>ИП Сидоренко А.А.</a:t>
                      </a:r>
                    </a:p>
                  </a:txBody>
                  <a:tcPr marL="27432" marR="27432" marT="18288" marB="18288">
                    <a:solidFill>
                      <a:srgbClr val="FAF8F1"/>
                    </a:solidFill>
                    <a:lnL w="5000">
                      <a:solidFill>
                        <a:srgbClr val="8B7A5E"/>
                      </a:solidFill>
                    </a:lnL>
                    <a:lnR w="5000">
                      <a:solidFill>
                        <a:srgbClr val="8B7A5E"/>
                      </a:solidFill>
                    </a:lnR>
                    <a:lnT w="5000">
                      <a:solidFill>
                        <a:srgbClr val="8B7A5E"/>
                      </a:solidFill>
                    </a:lnT>
                    <a:lnB w="5000">
                      <a:solidFill>
                        <a:srgbClr val="8B7A5E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640" b="0">
                          <a:solidFill>
                            <a:srgbClr val="000000"/>
                          </a:solidFill>
                          <a:latin typeface="Calibri"/>
                        </a:rPr>
                        <a:t>230501218595</a:t>
                      </a:r>
                    </a:p>
                  </a:txBody>
                  <a:tcPr marL="27432" marR="27432" marT="18288" marB="18288">
                    <a:solidFill>
                      <a:srgbClr val="FAF8F1"/>
                    </a:solidFill>
                    <a:lnL w="5000">
                      <a:solidFill>
                        <a:srgbClr val="8B7A5E"/>
                      </a:solidFill>
                    </a:lnL>
                    <a:lnR w="5000">
                      <a:solidFill>
                        <a:srgbClr val="8B7A5E"/>
                      </a:solidFill>
                    </a:lnR>
                    <a:lnT w="5000">
                      <a:solidFill>
                        <a:srgbClr val="8B7A5E"/>
                      </a:solidFill>
                    </a:lnT>
                    <a:lnB w="5000">
                      <a:solidFill>
                        <a:srgbClr val="8B7A5E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640" b="0">
                          <a:solidFill>
                            <a:srgbClr val="000000"/>
                          </a:solidFill>
                          <a:latin typeface="Calibri"/>
                        </a:rPr>
                        <a:t>28,7</a:t>
                      </a:r>
                    </a:p>
                  </a:txBody>
                  <a:tcPr marL="27432" marR="27432" marT="18288" marB="18288">
                    <a:solidFill>
                      <a:srgbClr val="FAF8F1"/>
                    </a:solidFill>
                    <a:lnL w="5000">
                      <a:solidFill>
                        <a:srgbClr val="8B7A5E"/>
                      </a:solidFill>
                    </a:lnL>
                    <a:lnR w="5000">
                      <a:solidFill>
                        <a:srgbClr val="8B7A5E"/>
                      </a:solidFill>
                    </a:lnR>
                    <a:lnT w="5000">
                      <a:solidFill>
                        <a:srgbClr val="8B7A5E"/>
                      </a:solidFill>
                    </a:lnT>
                    <a:lnB w="5000">
                      <a:solidFill>
                        <a:srgbClr val="8B7A5E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640" b="0">
                          <a:solidFill>
                            <a:srgbClr val="000000"/>
                          </a:solidFill>
                          <a:latin typeface="Calibri"/>
                        </a:rPr>
                        <a:t>8,1</a:t>
                      </a:r>
                    </a:p>
                  </a:txBody>
                  <a:tcPr marL="27432" marR="27432" marT="18288" marB="18288">
                    <a:solidFill>
                      <a:srgbClr val="FAF8F1"/>
                    </a:solidFill>
                    <a:lnL w="5000">
                      <a:solidFill>
                        <a:srgbClr val="8B7A5E"/>
                      </a:solidFill>
                    </a:lnL>
                    <a:lnR w="5000">
                      <a:solidFill>
                        <a:srgbClr val="8B7A5E"/>
                      </a:solidFill>
                    </a:lnR>
                    <a:lnT w="5000">
                      <a:solidFill>
                        <a:srgbClr val="8B7A5E"/>
                      </a:solidFill>
                    </a:lnT>
                    <a:lnB w="5000">
                      <a:solidFill>
                        <a:srgbClr val="8B7A5E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640" b="0">
                          <a:solidFill>
                            <a:srgbClr val="000000"/>
                          </a:solidFill>
                          <a:latin typeface="Calibri"/>
                        </a:rPr>
                        <a:t>7,3</a:t>
                      </a:r>
                    </a:p>
                  </a:txBody>
                  <a:tcPr marL="27432" marR="27432" marT="18288" marB="18288">
                    <a:solidFill>
                      <a:srgbClr val="FAF8F1"/>
                    </a:solidFill>
                    <a:lnL w="5000">
                      <a:solidFill>
                        <a:srgbClr val="8B7A5E"/>
                      </a:solidFill>
                    </a:lnL>
                    <a:lnR w="5000">
                      <a:solidFill>
                        <a:srgbClr val="8B7A5E"/>
                      </a:solidFill>
                    </a:lnR>
                    <a:lnT w="5000">
                      <a:solidFill>
                        <a:srgbClr val="8B7A5E"/>
                      </a:solidFill>
                    </a:lnT>
                    <a:lnB w="5000">
                      <a:solidFill>
                        <a:srgbClr val="8B7A5E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640" b="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27432" marR="27432" marT="18288" marB="18288">
                    <a:solidFill>
                      <a:srgbClr val="FAF8F1"/>
                    </a:solidFill>
                    <a:lnL w="5000">
                      <a:solidFill>
                        <a:srgbClr val="8B7A5E"/>
                      </a:solidFill>
                    </a:lnL>
                    <a:lnR w="5000">
                      <a:solidFill>
                        <a:srgbClr val="8B7A5E"/>
                      </a:solidFill>
                    </a:lnR>
                    <a:lnT w="5000">
                      <a:solidFill>
                        <a:srgbClr val="8B7A5E"/>
                      </a:solidFill>
                    </a:lnT>
                    <a:lnB w="5000">
                      <a:solidFill>
                        <a:srgbClr val="8B7A5E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640" b="0">
                          <a:solidFill>
                            <a:srgbClr val="000000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27432" marR="27432" marT="18288" marB="18288">
                    <a:solidFill>
                      <a:srgbClr val="FAF8F1"/>
                    </a:solidFill>
                    <a:lnL w="5000">
                      <a:solidFill>
                        <a:srgbClr val="8B7A5E"/>
                      </a:solidFill>
                    </a:lnL>
                    <a:lnR w="5000">
                      <a:solidFill>
                        <a:srgbClr val="8B7A5E"/>
                      </a:solidFill>
                    </a:lnR>
                    <a:lnT w="5000">
                      <a:solidFill>
                        <a:srgbClr val="8B7A5E"/>
                      </a:solidFill>
                    </a:lnT>
                    <a:lnB w="5000">
                      <a:solidFill>
                        <a:srgbClr val="8B7A5E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640" b="0">
                          <a:solidFill>
                            <a:srgbClr val="000000"/>
                          </a:solidFill>
                          <a:latin typeface="Calibri"/>
                        </a:rPr>
                        <a:t>95,0</a:t>
                      </a:r>
                    </a:p>
                  </a:txBody>
                  <a:tcPr marL="27432" marR="27432" marT="18288" marB="18288">
                    <a:solidFill>
                      <a:srgbClr val="FAF8F1"/>
                    </a:solidFill>
                    <a:lnL w="5000">
                      <a:solidFill>
                        <a:srgbClr val="8B7A5E"/>
                      </a:solidFill>
                    </a:lnL>
                    <a:lnR w="5000">
                      <a:solidFill>
                        <a:srgbClr val="8B7A5E"/>
                      </a:solidFill>
                    </a:lnR>
                    <a:lnT w="5000">
                      <a:solidFill>
                        <a:srgbClr val="8B7A5E"/>
                      </a:solidFill>
                    </a:lnT>
                    <a:lnB w="5000">
                      <a:solidFill>
                        <a:srgbClr val="8B7A5E"/>
                      </a:solidFill>
                    </a:lnB>
                  </a:tcPr>
                </a:tc>
              </a:tr>
              <a:tr h="384048">
                <a:tc>
                  <a:txBody>
                    <a:bodyPr wrap="square" anchor="ctr"/>
                    <a:lstStyle/>
                    <a:p>
                      <a:pPr algn="ctr"/>
                      <a:r>
                        <a:rPr sz="640" b="0">
                          <a:solidFill>
                            <a:srgbClr val="000000"/>
                          </a:solidFill>
                          <a:latin typeface="Calibri"/>
                        </a:rPr>
                        <a:t>2 сред</a:t>
                      </a:r>
                    </a:p>
                  </a:txBody>
                  <a:tcPr marL="27432" marR="27432" marT="18288" marB="18288">
                    <a:solidFill>
                      <a:srgbClr val="FAF8F1"/>
                    </a:solidFill>
                    <a:lnL w="5000">
                      <a:solidFill>
                        <a:srgbClr val="8B7A5E"/>
                      </a:solidFill>
                    </a:lnL>
                    <a:lnR w="5000">
                      <a:solidFill>
                        <a:srgbClr val="8B7A5E"/>
                      </a:solidFill>
                    </a:lnR>
                    <a:lnT w="5000">
                      <a:solidFill>
                        <a:srgbClr val="8B7A5E"/>
                      </a:solidFill>
                    </a:lnT>
                    <a:lnB w="5000">
                      <a:solidFill>
                        <a:srgbClr val="8B7A5E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640" b="0">
                          <a:solidFill>
                            <a:srgbClr val="000000"/>
                          </a:solidFill>
                          <a:latin typeface="Calibri"/>
                        </a:rPr>
                        <a:t>Личи-пицца</a:t>
                      </a:r>
                    </a:p>
                  </a:txBody>
                  <a:tcPr marL="27432" marR="27432" marT="18288" marB="18288">
                    <a:solidFill>
                      <a:srgbClr val="FAF8F1"/>
                    </a:solidFill>
                    <a:lnL w="5000">
                      <a:solidFill>
                        <a:srgbClr val="8B7A5E"/>
                      </a:solidFill>
                    </a:lnL>
                    <a:lnR w="5000">
                      <a:solidFill>
                        <a:srgbClr val="8B7A5E"/>
                      </a:solidFill>
                    </a:lnR>
                    <a:lnT w="5000">
                      <a:solidFill>
                        <a:srgbClr val="8B7A5E"/>
                      </a:solidFill>
                    </a:lnT>
                    <a:lnB w="5000">
                      <a:solidFill>
                        <a:srgbClr val="8B7A5E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640" b="0">
                          <a:solidFill>
                            <a:srgbClr val="000000"/>
                          </a:solidFill>
                          <a:latin typeface="Calibri"/>
                        </a:rPr>
                        <a:t>ИП Коденцева А.Ю.</a:t>
                      </a:r>
                    </a:p>
                  </a:txBody>
                  <a:tcPr marL="27432" marR="27432" marT="18288" marB="18288">
                    <a:solidFill>
                      <a:srgbClr val="FAF8F1"/>
                    </a:solidFill>
                    <a:lnL w="5000">
                      <a:solidFill>
                        <a:srgbClr val="8B7A5E"/>
                      </a:solidFill>
                    </a:lnL>
                    <a:lnR w="5000">
                      <a:solidFill>
                        <a:srgbClr val="8B7A5E"/>
                      </a:solidFill>
                    </a:lnR>
                    <a:lnT w="5000">
                      <a:solidFill>
                        <a:srgbClr val="8B7A5E"/>
                      </a:solidFill>
                    </a:lnT>
                    <a:lnB w="5000">
                      <a:solidFill>
                        <a:srgbClr val="8B7A5E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640" b="0">
                          <a:solidFill>
                            <a:srgbClr val="000000"/>
                          </a:solidFill>
                          <a:latin typeface="Calibri"/>
                        </a:rPr>
                        <a:t>230500289875</a:t>
                      </a:r>
                    </a:p>
                  </a:txBody>
                  <a:tcPr marL="27432" marR="27432" marT="18288" marB="18288">
                    <a:solidFill>
                      <a:srgbClr val="FAF8F1"/>
                    </a:solidFill>
                    <a:lnL w="5000">
                      <a:solidFill>
                        <a:srgbClr val="8B7A5E"/>
                      </a:solidFill>
                    </a:lnL>
                    <a:lnR w="5000">
                      <a:solidFill>
                        <a:srgbClr val="8B7A5E"/>
                      </a:solidFill>
                    </a:lnR>
                    <a:lnT w="5000">
                      <a:solidFill>
                        <a:srgbClr val="8B7A5E"/>
                      </a:solidFill>
                    </a:lnT>
                    <a:lnB w="5000">
                      <a:solidFill>
                        <a:srgbClr val="8B7A5E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640" b="0">
                          <a:solidFill>
                            <a:srgbClr val="000000"/>
                          </a:solidFill>
                          <a:latin typeface="Calibri"/>
                        </a:rPr>
                        <a:t>24,5</a:t>
                      </a:r>
                    </a:p>
                  </a:txBody>
                  <a:tcPr marL="27432" marR="27432" marT="18288" marB="18288">
                    <a:solidFill>
                      <a:srgbClr val="FAF8F1"/>
                    </a:solidFill>
                    <a:lnL w="5000">
                      <a:solidFill>
                        <a:srgbClr val="8B7A5E"/>
                      </a:solidFill>
                    </a:lnL>
                    <a:lnR w="5000">
                      <a:solidFill>
                        <a:srgbClr val="8B7A5E"/>
                      </a:solidFill>
                    </a:lnR>
                    <a:lnT w="5000">
                      <a:solidFill>
                        <a:srgbClr val="8B7A5E"/>
                      </a:solidFill>
                    </a:lnT>
                    <a:lnB w="5000">
                      <a:solidFill>
                        <a:srgbClr val="8B7A5E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640" b="0">
                          <a:solidFill>
                            <a:srgbClr val="000000"/>
                          </a:solidFill>
                          <a:latin typeface="Calibri"/>
                        </a:rPr>
                        <a:t>6,8</a:t>
                      </a:r>
                    </a:p>
                  </a:txBody>
                  <a:tcPr marL="27432" marR="27432" marT="18288" marB="18288">
                    <a:solidFill>
                      <a:srgbClr val="FAF8F1"/>
                    </a:solidFill>
                    <a:lnL w="5000">
                      <a:solidFill>
                        <a:srgbClr val="8B7A5E"/>
                      </a:solidFill>
                    </a:lnL>
                    <a:lnR w="5000">
                      <a:solidFill>
                        <a:srgbClr val="8B7A5E"/>
                      </a:solidFill>
                    </a:lnR>
                    <a:lnT w="5000">
                      <a:solidFill>
                        <a:srgbClr val="8B7A5E"/>
                      </a:solidFill>
                    </a:lnT>
                    <a:lnB w="5000">
                      <a:solidFill>
                        <a:srgbClr val="8B7A5E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640" b="0">
                          <a:solidFill>
                            <a:srgbClr val="000000"/>
                          </a:solidFill>
                          <a:latin typeface="Calibri"/>
                        </a:rPr>
                        <a:t>2,2</a:t>
                      </a:r>
                    </a:p>
                  </a:txBody>
                  <a:tcPr marL="27432" marR="27432" marT="18288" marB="18288">
                    <a:solidFill>
                      <a:srgbClr val="FAF8F1"/>
                    </a:solidFill>
                    <a:lnL w="5000">
                      <a:solidFill>
                        <a:srgbClr val="8B7A5E"/>
                      </a:solidFill>
                    </a:lnL>
                    <a:lnR w="5000">
                      <a:solidFill>
                        <a:srgbClr val="8B7A5E"/>
                      </a:solidFill>
                    </a:lnR>
                    <a:lnT w="5000">
                      <a:solidFill>
                        <a:srgbClr val="8B7A5E"/>
                      </a:solidFill>
                    </a:lnT>
                    <a:lnB w="5000">
                      <a:solidFill>
                        <a:srgbClr val="8B7A5E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640" b="0">
                          <a:solidFill>
                            <a:srgbClr val="000000"/>
                          </a:solidFill>
                          <a:latin typeface="Calibri"/>
                        </a:rPr>
                        <a:t>0,4</a:t>
                      </a:r>
                    </a:p>
                  </a:txBody>
                  <a:tcPr marL="27432" marR="27432" marT="18288" marB="18288">
                    <a:solidFill>
                      <a:srgbClr val="FAF8F1"/>
                    </a:solidFill>
                    <a:lnL w="5000">
                      <a:solidFill>
                        <a:srgbClr val="8B7A5E"/>
                      </a:solidFill>
                    </a:lnL>
                    <a:lnR w="5000">
                      <a:solidFill>
                        <a:srgbClr val="8B7A5E"/>
                      </a:solidFill>
                    </a:lnR>
                    <a:lnT w="5000">
                      <a:solidFill>
                        <a:srgbClr val="8B7A5E"/>
                      </a:solidFill>
                    </a:lnT>
                    <a:lnB w="5000">
                      <a:solidFill>
                        <a:srgbClr val="8B7A5E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640" b="0">
                          <a:solidFill>
                            <a:srgbClr val="000000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27432" marR="27432" marT="18288" marB="18288">
                    <a:solidFill>
                      <a:srgbClr val="FAF8F1"/>
                    </a:solidFill>
                    <a:lnL w="5000">
                      <a:solidFill>
                        <a:srgbClr val="8B7A5E"/>
                      </a:solidFill>
                    </a:lnL>
                    <a:lnR w="5000">
                      <a:solidFill>
                        <a:srgbClr val="8B7A5E"/>
                      </a:solidFill>
                    </a:lnR>
                    <a:lnT w="5000">
                      <a:solidFill>
                        <a:srgbClr val="8B7A5E"/>
                      </a:solidFill>
                    </a:lnT>
                    <a:lnB w="5000">
                      <a:solidFill>
                        <a:srgbClr val="8B7A5E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640" b="0">
                          <a:solidFill>
                            <a:srgbClr val="000000"/>
                          </a:solidFill>
                          <a:latin typeface="Calibri"/>
                        </a:rPr>
                        <a:t>69,2</a:t>
                      </a:r>
                    </a:p>
                  </a:txBody>
                  <a:tcPr marL="27432" marR="27432" marT="18288" marB="18288">
                    <a:solidFill>
                      <a:srgbClr val="FAF8F1"/>
                    </a:solidFill>
                    <a:lnL w="5000">
                      <a:solidFill>
                        <a:srgbClr val="8B7A5E"/>
                      </a:solidFill>
                    </a:lnL>
                    <a:lnR w="5000">
                      <a:solidFill>
                        <a:srgbClr val="8B7A5E"/>
                      </a:solidFill>
                    </a:lnR>
                    <a:lnT w="5000">
                      <a:solidFill>
                        <a:srgbClr val="8B7A5E"/>
                      </a:solidFill>
                    </a:lnT>
                    <a:lnB w="5000">
                      <a:solidFill>
                        <a:srgbClr val="8B7A5E"/>
                      </a:solidFill>
                    </a:lnB>
                  </a:tcPr>
                </a:tc>
              </a:tr>
              <a:tr h="384048">
                <a:tc>
                  <a:txBody>
                    <a:bodyPr wrap="square" anchor="ctr"/>
                    <a:lstStyle/>
                    <a:p>
                      <a:pPr algn="ctr"/>
                      <a:r>
                        <a:rPr sz="640" b="0">
                          <a:solidFill>
                            <a:srgbClr val="000000"/>
                          </a:solidFill>
                          <a:latin typeface="Calibri"/>
                        </a:rPr>
                        <a:t>2 сред</a:t>
                      </a:r>
                    </a:p>
                  </a:txBody>
                  <a:tcPr marL="27432" marR="27432" marT="18288" marB="18288">
                    <a:solidFill>
                      <a:srgbClr val="FAF8F1"/>
                    </a:solidFill>
                    <a:lnL w="5000">
                      <a:solidFill>
                        <a:srgbClr val="8B7A5E"/>
                      </a:solidFill>
                    </a:lnL>
                    <a:lnR w="5000">
                      <a:solidFill>
                        <a:srgbClr val="8B7A5E"/>
                      </a:solidFill>
                    </a:lnR>
                    <a:lnT w="5000">
                      <a:solidFill>
                        <a:srgbClr val="8B7A5E"/>
                      </a:solidFill>
                    </a:lnT>
                    <a:lnB w="5000">
                      <a:solidFill>
                        <a:srgbClr val="8B7A5E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640" b="0">
                          <a:solidFill>
                            <a:srgbClr val="000000"/>
                          </a:solidFill>
                          <a:latin typeface="Calibri"/>
                        </a:rPr>
                        <a:t>Харчевня</a:t>
                      </a:r>
                    </a:p>
                  </a:txBody>
                  <a:tcPr marL="27432" marR="27432" marT="18288" marB="18288">
                    <a:solidFill>
                      <a:srgbClr val="FAF8F1"/>
                    </a:solidFill>
                    <a:lnL w="5000">
                      <a:solidFill>
                        <a:srgbClr val="8B7A5E"/>
                      </a:solidFill>
                    </a:lnL>
                    <a:lnR w="5000">
                      <a:solidFill>
                        <a:srgbClr val="8B7A5E"/>
                      </a:solidFill>
                    </a:lnR>
                    <a:lnT w="5000">
                      <a:solidFill>
                        <a:srgbClr val="8B7A5E"/>
                      </a:solidFill>
                    </a:lnT>
                    <a:lnB w="5000">
                      <a:solidFill>
                        <a:srgbClr val="8B7A5E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640" b="0">
                          <a:solidFill>
                            <a:srgbClr val="000000"/>
                          </a:solidFill>
                          <a:latin typeface="Calibri"/>
                        </a:rPr>
                        <a:t>ООО «Харчевня»</a:t>
                      </a:r>
                    </a:p>
                  </a:txBody>
                  <a:tcPr marL="27432" marR="27432" marT="18288" marB="18288">
                    <a:solidFill>
                      <a:srgbClr val="FAF8F1"/>
                    </a:solidFill>
                    <a:lnL w="5000">
                      <a:solidFill>
                        <a:srgbClr val="8B7A5E"/>
                      </a:solidFill>
                    </a:lnL>
                    <a:lnR w="5000">
                      <a:solidFill>
                        <a:srgbClr val="8B7A5E"/>
                      </a:solidFill>
                    </a:lnR>
                    <a:lnT w="5000">
                      <a:solidFill>
                        <a:srgbClr val="8B7A5E"/>
                      </a:solidFill>
                    </a:lnT>
                    <a:lnB w="5000">
                      <a:solidFill>
                        <a:srgbClr val="8B7A5E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640" b="0">
                          <a:solidFill>
                            <a:srgbClr val="000000"/>
                          </a:solidFill>
                          <a:latin typeface="Calibri"/>
                        </a:rPr>
                        <a:t>2305024313</a:t>
                      </a:r>
                    </a:p>
                  </a:txBody>
                  <a:tcPr marL="27432" marR="27432" marT="18288" marB="18288">
                    <a:solidFill>
                      <a:srgbClr val="FAF8F1"/>
                    </a:solidFill>
                    <a:lnL w="5000">
                      <a:solidFill>
                        <a:srgbClr val="8B7A5E"/>
                      </a:solidFill>
                    </a:lnL>
                    <a:lnR w="5000">
                      <a:solidFill>
                        <a:srgbClr val="8B7A5E"/>
                      </a:solidFill>
                    </a:lnR>
                    <a:lnT w="5000">
                      <a:solidFill>
                        <a:srgbClr val="8B7A5E"/>
                      </a:solidFill>
                    </a:lnT>
                    <a:lnB w="5000">
                      <a:solidFill>
                        <a:srgbClr val="8B7A5E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640" b="0">
                          <a:solidFill>
                            <a:srgbClr val="000000"/>
                          </a:solidFill>
                          <a:latin typeface="Calibri"/>
                        </a:rPr>
                        <a:t>131,8</a:t>
                      </a:r>
                    </a:p>
                  </a:txBody>
                  <a:tcPr marL="27432" marR="27432" marT="18288" marB="18288">
                    <a:solidFill>
                      <a:srgbClr val="FAF8F1"/>
                    </a:solidFill>
                    <a:lnL w="5000">
                      <a:solidFill>
                        <a:srgbClr val="8B7A5E"/>
                      </a:solidFill>
                    </a:lnL>
                    <a:lnR w="5000">
                      <a:solidFill>
                        <a:srgbClr val="8B7A5E"/>
                      </a:solidFill>
                    </a:lnR>
                    <a:lnT w="5000">
                      <a:solidFill>
                        <a:srgbClr val="8B7A5E"/>
                      </a:solidFill>
                    </a:lnT>
                    <a:lnB w="5000">
                      <a:solidFill>
                        <a:srgbClr val="8B7A5E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640" b="0">
                          <a:solidFill>
                            <a:srgbClr val="000000"/>
                          </a:solidFill>
                          <a:latin typeface="Calibri"/>
                        </a:rPr>
                        <a:t>29,6</a:t>
                      </a:r>
                    </a:p>
                  </a:txBody>
                  <a:tcPr marL="27432" marR="27432" marT="18288" marB="18288">
                    <a:solidFill>
                      <a:srgbClr val="FAF8F1"/>
                    </a:solidFill>
                    <a:lnL w="5000">
                      <a:solidFill>
                        <a:srgbClr val="8B7A5E"/>
                      </a:solidFill>
                    </a:lnL>
                    <a:lnR w="5000">
                      <a:solidFill>
                        <a:srgbClr val="8B7A5E"/>
                      </a:solidFill>
                    </a:lnR>
                    <a:lnT w="5000">
                      <a:solidFill>
                        <a:srgbClr val="8B7A5E"/>
                      </a:solidFill>
                    </a:lnT>
                    <a:lnB w="5000">
                      <a:solidFill>
                        <a:srgbClr val="8B7A5E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640" b="0">
                          <a:solidFill>
                            <a:srgbClr val="000000"/>
                          </a:solidFill>
                          <a:latin typeface="Calibri"/>
                        </a:rPr>
                        <a:t>40,0</a:t>
                      </a:r>
                    </a:p>
                  </a:txBody>
                  <a:tcPr marL="27432" marR="27432" marT="18288" marB="18288">
                    <a:solidFill>
                      <a:srgbClr val="FAF8F1"/>
                    </a:solidFill>
                    <a:lnL w="5000">
                      <a:solidFill>
                        <a:srgbClr val="8B7A5E"/>
                      </a:solidFill>
                    </a:lnL>
                    <a:lnR w="5000">
                      <a:solidFill>
                        <a:srgbClr val="8B7A5E"/>
                      </a:solidFill>
                    </a:lnR>
                    <a:lnT w="5000">
                      <a:solidFill>
                        <a:srgbClr val="8B7A5E"/>
                      </a:solidFill>
                    </a:lnT>
                    <a:lnB w="5000">
                      <a:solidFill>
                        <a:srgbClr val="8B7A5E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640" b="0">
                          <a:solidFill>
                            <a:srgbClr val="000000"/>
                          </a:solidFill>
                          <a:latin typeface="Calibri"/>
                        </a:rPr>
                        <a:t>11,9</a:t>
                      </a:r>
                    </a:p>
                  </a:txBody>
                  <a:tcPr marL="27432" marR="27432" marT="18288" marB="18288">
                    <a:solidFill>
                      <a:srgbClr val="FAF8F1"/>
                    </a:solidFill>
                    <a:lnL w="5000">
                      <a:solidFill>
                        <a:srgbClr val="8B7A5E"/>
                      </a:solidFill>
                    </a:lnL>
                    <a:lnR w="5000">
                      <a:solidFill>
                        <a:srgbClr val="8B7A5E"/>
                      </a:solidFill>
                    </a:lnR>
                    <a:lnT w="5000">
                      <a:solidFill>
                        <a:srgbClr val="8B7A5E"/>
                      </a:solidFill>
                    </a:lnT>
                    <a:lnB w="5000">
                      <a:solidFill>
                        <a:srgbClr val="8B7A5E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640" b="0">
                          <a:solidFill>
                            <a:srgbClr val="000000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marL="27432" marR="27432" marT="18288" marB="18288">
                    <a:solidFill>
                      <a:srgbClr val="FAF8F1"/>
                    </a:solidFill>
                    <a:lnL w="5000">
                      <a:solidFill>
                        <a:srgbClr val="8B7A5E"/>
                      </a:solidFill>
                    </a:lnL>
                    <a:lnR w="5000">
                      <a:solidFill>
                        <a:srgbClr val="8B7A5E"/>
                      </a:solidFill>
                    </a:lnR>
                    <a:lnT w="5000">
                      <a:solidFill>
                        <a:srgbClr val="8B7A5E"/>
                      </a:solidFill>
                    </a:lnT>
                    <a:lnB w="5000">
                      <a:solidFill>
                        <a:srgbClr val="8B7A5E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640" b="0">
                          <a:solidFill>
                            <a:srgbClr val="000000"/>
                          </a:solidFill>
                          <a:latin typeface="Calibri"/>
                        </a:rPr>
                        <a:t>54,2</a:t>
                      </a:r>
                    </a:p>
                  </a:txBody>
                  <a:tcPr marL="27432" marR="27432" marT="18288" marB="18288">
                    <a:solidFill>
                      <a:srgbClr val="FAF8F1"/>
                    </a:solidFill>
                    <a:lnL w="5000">
                      <a:solidFill>
                        <a:srgbClr val="8B7A5E"/>
                      </a:solidFill>
                    </a:lnL>
                    <a:lnR w="5000">
                      <a:solidFill>
                        <a:srgbClr val="8B7A5E"/>
                      </a:solidFill>
                    </a:lnR>
                    <a:lnT w="5000">
                      <a:solidFill>
                        <a:srgbClr val="8B7A5E"/>
                      </a:solidFill>
                    </a:lnT>
                    <a:lnB w="5000">
                      <a:solidFill>
                        <a:srgbClr val="8B7A5E"/>
                      </a:solidFill>
                    </a:lnB>
                  </a:tcPr>
                </a:tc>
              </a:tr>
              <a:tr h="384048">
                <a:tc>
                  <a:txBody>
                    <a:bodyPr wrap="square" anchor="ctr"/>
                    <a:lstStyle/>
                    <a:p>
                      <a:pPr algn="ctr"/>
                      <a:r>
                        <a:rPr sz="640" b="0">
                          <a:solidFill>
                            <a:srgbClr val="000000"/>
                          </a:solidFill>
                          <a:latin typeface="Calibri"/>
                        </a:rPr>
                        <a:t>2 мин</a:t>
                      </a:r>
                    </a:p>
                  </a:txBody>
                  <a:tcPr marL="27432" marR="27432" marT="18288" marB="18288">
                    <a:solidFill>
                      <a:srgbClr val="FAF8F1"/>
                    </a:solidFill>
                    <a:lnL w="5000">
                      <a:solidFill>
                        <a:srgbClr val="8B7A5E"/>
                      </a:solidFill>
                    </a:lnL>
                    <a:lnR w="5000">
                      <a:solidFill>
                        <a:srgbClr val="8B7A5E"/>
                      </a:solidFill>
                    </a:lnR>
                    <a:lnT w="5000">
                      <a:solidFill>
                        <a:srgbClr val="8B7A5E"/>
                      </a:solidFill>
                    </a:lnT>
                    <a:lnB w="5000">
                      <a:solidFill>
                        <a:srgbClr val="8B7A5E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640" b="0">
                          <a:solidFill>
                            <a:srgbClr val="000000"/>
                          </a:solidFill>
                          <a:latin typeface="Calibri"/>
                        </a:rPr>
                        <a:t>Шустрый Лис</a:t>
                      </a:r>
                    </a:p>
                  </a:txBody>
                  <a:tcPr marL="27432" marR="27432" marT="18288" marB="18288">
                    <a:solidFill>
                      <a:srgbClr val="FAF8F1"/>
                    </a:solidFill>
                    <a:lnL w="5000">
                      <a:solidFill>
                        <a:srgbClr val="8B7A5E"/>
                      </a:solidFill>
                    </a:lnL>
                    <a:lnR w="5000">
                      <a:solidFill>
                        <a:srgbClr val="8B7A5E"/>
                      </a:solidFill>
                    </a:lnR>
                    <a:lnT w="5000">
                      <a:solidFill>
                        <a:srgbClr val="8B7A5E"/>
                      </a:solidFill>
                    </a:lnT>
                    <a:lnB w="5000">
                      <a:solidFill>
                        <a:srgbClr val="8B7A5E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640" b="0">
                          <a:solidFill>
                            <a:srgbClr val="000000"/>
                          </a:solidFill>
                          <a:latin typeface="Calibri"/>
                        </a:rPr>
                        <a:t>ИП Шокарева В.А.</a:t>
                      </a:r>
                    </a:p>
                  </a:txBody>
                  <a:tcPr marL="27432" marR="27432" marT="18288" marB="18288">
                    <a:solidFill>
                      <a:srgbClr val="FAF8F1"/>
                    </a:solidFill>
                    <a:lnL w="5000">
                      <a:solidFill>
                        <a:srgbClr val="8B7A5E"/>
                      </a:solidFill>
                    </a:lnL>
                    <a:lnR w="5000">
                      <a:solidFill>
                        <a:srgbClr val="8B7A5E"/>
                      </a:solidFill>
                    </a:lnR>
                    <a:lnT w="5000">
                      <a:solidFill>
                        <a:srgbClr val="8B7A5E"/>
                      </a:solidFill>
                    </a:lnT>
                    <a:lnB w="5000">
                      <a:solidFill>
                        <a:srgbClr val="8B7A5E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640" b="0">
                          <a:solidFill>
                            <a:srgbClr val="000000"/>
                          </a:solidFill>
                          <a:latin typeface="Calibri"/>
                        </a:rPr>
                        <a:t>235310359481</a:t>
                      </a:r>
                    </a:p>
                  </a:txBody>
                  <a:tcPr marL="27432" marR="27432" marT="18288" marB="18288">
                    <a:solidFill>
                      <a:srgbClr val="FAF8F1"/>
                    </a:solidFill>
                    <a:lnL w="5000">
                      <a:solidFill>
                        <a:srgbClr val="8B7A5E"/>
                      </a:solidFill>
                    </a:lnL>
                    <a:lnR w="5000">
                      <a:solidFill>
                        <a:srgbClr val="8B7A5E"/>
                      </a:solidFill>
                    </a:lnR>
                    <a:lnT w="5000">
                      <a:solidFill>
                        <a:srgbClr val="8B7A5E"/>
                      </a:solidFill>
                    </a:lnT>
                    <a:lnB w="5000">
                      <a:solidFill>
                        <a:srgbClr val="8B7A5E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640" b="0">
                          <a:solidFill>
                            <a:srgbClr val="000000"/>
                          </a:solidFill>
                          <a:latin typeface="Calibri"/>
                        </a:rPr>
                        <a:t>12,9</a:t>
                      </a:r>
                    </a:p>
                  </a:txBody>
                  <a:tcPr marL="27432" marR="27432" marT="18288" marB="18288">
                    <a:solidFill>
                      <a:srgbClr val="FAF8F1"/>
                    </a:solidFill>
                    <a:lnL w="5000">
                      <a:solidFill>
                        <a:srgbClr val="8B7A5E"/>
                      </a:solidFill>
                    </a:lnL>
                    <a:lnR w="5000">
                      <a:solidFill>
                        <a:srgbClr val="8B7A5E"/>
                      </a:solidFill>
                    </a:lnR>
                    <a:lnT w="5000">
                      <a:solidFill>
                        <a:srgbClr val="8B7A5E"/>
                      </a:solidFill>
                    </a:lnT>
                    <a:lnB w="5000">
                      <a:solidFill>
                        <a:srgbClr val="8B7A5E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640" b="0">
                          <a:solidFill>
                            <a:srgbClr val="000000"/>
                          </a:solidFill>
                          <a:latin typeface="Calibri"/>
                        </a:rPr>
                        <a:t>3,2</a:t>
                      </a:r>
                    </a:p>
                  </a:txBody>
                  <a:tcPr marL="27432" marR="27432" marT="18288" marB="18288">
                    <a:solidFill>
                      <a:srgbClr val="FAF8F1"/>
                    </a:solidFill>
                    <a:lnL w="5000">
                      <a:solidFill>
                        <a:srgbClr val="8B7A5E"/>
                      </a:solidFill>
                    </a:lnL>
                    <a:lnR w="5000">
                      <a:solidFill>
                        <a:srgbClr val="8B7A5E"/>
                      </a:solidFill>
                    </a:lnR>
                    <a:lnT w="5000">
                      <a:solidFill>
                        <a:srgbClr val="8B7A5E"/>
                      </a:solidFill>
                    </a:lnT>
                    <a:lnB w="5000">
                      <a:solidFill>
                        <a:srgbClr val="8B7A5E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640" b="0">
                          <a:solidFill>
                            <a:srgbClr val="000000"/>
                          </a:solidFill>
                          <a:latin typeface="Calibri"/>
                        </a:rPr>
                        <a:t>0,4</a:t>
                      </a:r>
                    </a:p>
                  </a:txBody>
                  <a:tcPr marL="27432" marR="27432" marT="18288" marB="18288">
                    <a:solidFill>
                      <a:srgbClr val="FAF8F1"/>
                    </a:solidFill>
                    <a:lnL w="5000">
                      <a:solidFill>
                        <a:srgbClr val="8B7A5E"/>
                      </a:solidFill>
                    </a:lnL>
                    <a:lnR w="5000">
                      <a:solidFill>
                        <a:srgbClr val="8B7A5E"/>
                      </a:solidFill>
                    </a:lnR>
                    <a:lnT w="5000">
                      <a:solidFill>
                        <a:srgbClr val="8B7A5E"/>
                      </a:solidFill>
                    </a:lnT>
                    <a:lnB w="5000">
                      <a:solidFill>
                        <a:srgbClr val="8B7A5E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640" b="0">
                          <a:solidFill>
                            <a:srgbClr val="000000"/>
                          </a:solidFill>
                          <a:latin typeface="Calibri"/>
                        </a:rPr>
                        <a:t>0,8</a:t>
                      </a:r>
                    </a:p>
                  </a:txBody>
                  <a:tcPr marL="27432" marR="27432" marT="18288" marB="18288">
                    <a:solidFill>
                      <a:srgbClr val="FAF8F1"/>
                    </a:solidFill>
                    <a:lnL w="5000">
                      <a:solidFill>
                        <a:srgbClr val="8B7A5E"/>
                      </a:solidFill>
                    </a:lnL>
                    <a:lnR w="5000">
                      <a:solidFill>
                        <a:srgbClr val="8B7A5E"/>
                      </a:solidFill>
                    </a:lnR>
                    <a:lnT w="5000">
                      <a:solidFill>
                        <a:srgbClr val="8B7A5E"/>
                      </a:solidFill>
                    </a:lnT>
                    <a:lnB w="5000">
                      <a:solidFill>
                        <a:srgbClr val="8B7A5E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640" b="0">
                          <a:solidFill>
                            <a:srgbClr val="000000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27432" marR="27432" marT="18288" marB="18288">
                    <a:solidFill>
                      <a:srgbClr val="FAF8F1"/>
                    </a:solidFill>
                    <a:lnL w="5000">
                      <a:solidFill>
                        <a:srgbClr val="8B7A5E"/>
                      </a:solidFill>
                    </a:lnL>
                    <a:lnR w="5000">
                      <a:solidFill>
                        <a:srgbClr val="8B7A5E"/>
                      </a:solidFill>
                    </a:lnR>
                    <a:lnT w="5000">
                      <a:solidFill>
                        <a:srgbClr val="8B7A5E"/>
                      </a:solidFill>
                    </a:lnT>
                    <a:lnB w="5000">
                      <a:solidFill>
                        <a:srgbClr val="8B7A5E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640" b="0">
                          <a:solidFill>
                            <a:srgbClr val="000000"/>
                          </a:solidFill>
                          <a:latin typeface="Calibri"/>
                        </a:rPr>
                        <a:t>-33,3</a:t>
                      </a:r>
                    </a:p>
                  </a:txBody>
                  <a:tcPr marL="27432" marR="27432" marT="18288" marB="18288">
                    <a:solidFill>
                      <a:srgbClr val="FAF8F1"/>
                    </a:solidFill>
                    <a:lnL w="5000">
                      <a:solidFill>
                        <a:srgbClr val="8B7A5E"/>
                      </a:solidFill>
                    </a:lnL>
                    <a:lnR w="5000">
                      <a:solidFill>
                        <a:srgbClr val="8B7A5E"/>
                      </a:solidFill>
                    </a:lnR>
                    <a:lnT w="5000">
                      <a:solidFill>
                        <a:srgbClr val="8B7A5E"/>
                      </a:solidFill>
                    </a:lnT>
                    <a:lnB w="5000">
                      <a:solidFill>
                        <a:srgbClr val="8B7A5E"/>
                      </a:solidFill>
                    </a:lnB>
                  </a:tcPr>
                </a:tc>
              </a:tr>
              <a:tr h="384048">
                <a:tc>
                  <a:txBody>
                    <a:bodyPr wrap="square" anchor="ctr"/>
                    <a:lstStyle/>
                    <a:p>
                      <a:pPr algn="ctr"/>
                      <a:r>
                        <a:rPr sz="640" b="0">
                          <a:solidFill>
                            <a:srgbClr val="000000"/>
                          </a:solidFill>
                          <a:latin typeface="Calibri"/>
                        </a:rPr>
                        <a:t>2 мин</a:t>
                      </a:r>
                    </a:p>
                  </a:txBody>
                  <a:tcPr marL="27432" marR="27432" marT="18288" marB="18288">
                    <a:solidFill>
                      <a:srgbClr val="FAF8F1"/>
                    </a:solidFill>
                    <a:lnL w="5000">
                      <a:solidFill>
                        <a:srgbClr val="8B7A5E"/>
                      </a:solidFill>
                    </a:lnL>
                    <a:lnR w="5000">
                      <a:solidFill>
                        <a:srgbClr val="8B7A5E"/>
                      </a:solidFill>
                    </a:lnR>
                    <a:lnT w="5000">
                      <a:solidFill>
                        <a:srgbClr val="8B7A5E"/>
                      </a:solidFill>
                    </a:lnT>
                    <a:lnB w="5000">
                      <a:solidFill>
                        <a:srgbClr val="8B7A5E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640" b="0">
                          <a:solidFill>
                            <a:srgbClr val="000000"/>
                          </a:solidFill>
                          <a:latin typeface="Calibri"/>
                        </a:rPr>
                        <a:t>Старый Замок</a:t>
                      </a:r>
                    </a:p>
                  </a:txBody>
                  <a:tcPr marL="27432" marR="27432" marT="18288" marB="18288">
                    <a:solidFill>
                      <a:srgbClr val="FAF8F1"/>
                    </a:solidFill>
                    <a:lnL w="5000">
                      <a:solidFill>
                        <a:srgbClr val="8B7A5E"/>
                      </a:solidFill>
                    </a:lnL>
                    <a:lnR w="5000">
                      <a:solidFill>
                        <a:srgbClr val="8B7A5E"/>
                      </a:solidFill>
                    </a:lnR>
                    <a:lnT w="5000">
                      <a:solidFill>
                        <a:srgbClr val="8B7A5E"/>
                      </a:solidFill>
                    </a:lnT>
                    <a:lnB w="5000">
                      <a:solidFill>
                        <a:srgbClr val="8B7A5E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640" b="0">
                          <a:solidFill>
                            <a:srgbClr val="000000"/>
                          </a:solidFill>
                          <a:latin typeface="Calibri"/>
                        </a:rPr>
                        <a:t>ООО «Старый Замок»</a:t>
                      </a:r>
                    </a:p>
                  </a:txBody>
                  <a:tcPr marL="27432" marR="27432" marT="18288" marB="18288">
                    <a:solidFill>
                      <a:srgbClr val="FAF8F1"/>
                    </a:solidFill>
                    <a:lnL w="5000">
                      <a:solidFill>
                        <a:srgbClr val="8B7A5E"/>
                      </a:solidFill>
                    </a:lnL>
                    <a:lnR w="5000">
                      <a:solidFill>
                        <a:srgbClr val="8B7A5E"/>
                      </a:solidFill>
                    </a:lnR>
                    <a:lnT w="5000">
                      <a:solidFill>
                        <a:srgbClr val="8B7A5E"/>
                      </a:solidFill>
                    </a:lnT>
                    <a:lnB w="5000">
                      <a:solidFill>
                        <a:srgbClr val="8B7A5E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640" b="0">
                          <a:solidFill>
                            <a:srgbClr val="000000"/>
                          </a:solidFill>
                          <a:latin typeface="Calibri"/>
                        </a:rPr>
                        <a:t>2305025099</a:t>
                      </a:r>
                    </a:p>
                  </a:txBody>
                  <a:tcPr marL="27432" marR="27432" marT="18288" marB="18288">
                    <a:solidFill>
                      <a:srgbClr val="FAF8F1"/>
                    </a:solidFill>
                    <a:lnL w="5000">
                      <a:solidFill>
                        <a:srgbClr val="8B7A5E"/>
                      </a:solidFill>
                    </a:lnL>
                    <a:lnR w="5000">
                      <a:solidFill>
                        <a:srgbClr val="8B7A5E"/>
                      </a:solidFill>
                    </a:lnR>
                    <a:lnT w="5000">
                      <a:solidFill>
                        <a:srgbClr val="8B7A5E"/>
                      </a:solidFill>
                    </a:lnT>
                    <a:lnB w="5000">
                      <a:solidFill>
                        <a:srgbClr val="8B7A5E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640" b="0">
                          <a:solidFill>
                            <a:srgbClr val="000000"/>
                          </a:solidFill>
                          <a:latin typeface="Calibri"/>
                        </a:rPr>
                        <a:t>18,5</a:t>
                      </a:r>
                    </a:p>
                  </a:txBody>
                  <a:tcPr marL="27432" marR="27432" marT="18288" marB="18288">
                    <a:solidFill>
                      <a:srgbClr val="FAF8F1"/>
                    </a:solidFill>
                    <a:lnL w="5000">
                      <a:solidFill>
                        <a:srgbClr val="8B7A5E"/>
                      </a:solidFill>
                    </a:lnL>
                    <a:lnR w="5000">
                      <a:solidFill>
                        <a:srgbClr val="8B7A5E"/>
                      </a:solidFill>
                    </a:lnR>
                    <a:lnT w="5000">
                      <a:solidFill>
                        <a:srgbClr val="8B7A5E"/>
                      </a:solidFill>
                    </a:lnT>
                    <a:lnB w="5000">
                      <a:solidFill>
                        <a:srgbClr val="8B7A5E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640" b="0">
                          <a:solidFill>
                            <a:srgbClr val="000000"/>
                          </a:solidFill>
                          <a:latin typeface="Calibri"/>
                        </a:rPr>
                        <a:t>3,8</a:t>
                      </a:r>
                    </a:p>
                  </a:txBody>
                  <a:tcPr marL="27432" marR="27432" marT="18288" marB="18288">
                    <a:solidFill>
                      <a:srgbClr val="FAF8F1"/>
                    </a:solidFill>
                    <a:lnL w="5000">
                      <a:solidFill>
                        <a:srgbClr val="8B7A5E"/>
                      </a:solidFill>
                    </a:lnL>
                    <a:lnR w="5000">
                      <a:solidFill>
                        <a:srgbClr val="8B7A5E"/>
                      </a:solidFill>
                    </a:lnR>
                    <a:lnT w="5000">
                      <a:solidFill>
                        <a:srgbClr val="8B7A5E"/>
                      </a:solidFill>
                    </a:lnT>
                    <a:lnB w="5000">
                      <a:solidFill>
                        <a:srgbClr val="8B7A5E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640" b="0">
                          <a:solidFill>
                            <a:srgbClr val="000000"/>
                          </a:solidFill>
                          <a:latin typeface="Calibri"/>
                        </a:rPr>
                        <a:t>1,1</a:t>
                      </a:r>
                    </a:p>
                  </a:txBody>
                  <a:tcPr marL="27432" marR="27432" marT="18288" marB="18288">
                    <a:solidFill>
                      <a:srgbClr val="FAF8F1"/>
                    </a:solidFill>
                    <a:lnL w="5000">
                      <a:solidFill>
                        <a:srgbClr val="8B7A5E"/>
                      </a:solidFill>
                    </a:lnL>
                    <a:lnR w="5000">
                      <a:solidFill>
                        <a:srgbClr val="8B7A5E"/>
                      </a:solidFill>
                    </a:lnR>
                    <a:lnT w="5000">
                      <a:solidFill>
                        <a:srgbClr val="8B7A5E"/>
                      </a:solidFill>
                    </a:lnT>
                    <a:lnB w="5000">
                      <a:solidFill>
                        <a:srgbClr val="8B7A5E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640" b="0">
                          <a:solidFill>
                            <a:srgbClr val="000000"/>
                          </a:solidFill>
                          <a:latin typeface="Calibri"/>
                        </a:rPr>
                        <a:t>2,4</a:t>
                      </a:r>
                    </a:p>
                  </a:txBody>
                  <a:tcPr marL="27432" marR="27432" marT="18288" marB="18288">
                    <a:solidFill>
                      <a:srgbClr val="FAF8F1"/>
                    </a:solidFill>
                    <a:lnL w="5000">
                      <a:solidFill>
                        <a:srgbClr val="8B7A5E"/>
                      </a:solidFill>
                    </a:lnL>
                    <a:lnR w="5000">
                      <a:solidFill>
                        <a:srgbClr val="8B7A5E"/>
                      </a:solidFill>
                    </a:lnR>
                    <a:lnT w="5000">
                      <a:solidFill>
                        <a:srgbClr val="8B7A5E"/>
                      </a:solidFill>
                    </a:lnT>
                    <a:lnB w="5000">
                      <a:solidFill>
                        <a:srgbClr val="8B7A5E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640" b="0">
                          <a:solidFill>
                            <a:srgbClr val="000000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27432" marR="27432" marT="18288" marB="18288">
                    <a:solidFill>
                      <a:srgbClr val="FAF8F1"/>
                    </a:solidFill>
                    <a:lnL w="5000">
                      <a:solidFill>
                        <a:srgbClr val="8B7A5E"/>
                      </a:solidFill>
                    </a:lnL>
                    <a:lnR w="5000">
                      <a:solidFill>
                        <a:srgbClr val="8B7A5E"/>
                      </a:solidFill>
                    </a:lnR>
                    <a:lnT w="5000">
                      <a:solidFill>
                        <a:srgbClr val="8B7A5E"/>
                      </a:solidFill>
                    </a:lnT>
                    <a:lnB w="5000">
                      <a:solidFill>
                        <a:srgbClr val="8B7A5E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640" b="0">
                          <a:solidFill>
                            <a:srgbClr val="000000"/>
                          </a:solidFill>
                          <a:latin typeface="Calibri"/>
                        </a:rPr>
                        <a:t>-37,1</a:t>
                      </a:r>
                    </a:p>
                  </a:txBody>
                  <a:tcPr marL="27432" marR="27432" marT="18288" marB="18288">
                    <a:solidFill>
                      <a:srgbClr val="FAF8F1"/>
                    </a:solidFill>
                    <a:lnL w="5000">
                      <a:solidFill>
                        <a:srgbClr val="8B7A5E"/>
                      </a:solidFill>
                    </a:lnL>
                    <a:lnR w="5000">
                      <a:solidFill>
                        <a:srgbClr val="8B7A5E"/>
                      </a:solidFill>
                    </a:lnR>
                    <a:lnT w="5000">
                      <a:solidFill>
                        <a:srgbClr val="8B7A5E"/>
                      </a:solidFill>
                    </a:lnT>
                    <a:lnB w="5000">
                      <a:solidFill>
                        <a:srgbClr val="8B7A5E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10312" y="5650992"/>
            <a:ext cx="4206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000000"/>
                </a:solidFill>
                <a:latin typeface="Times New Roman"/>
              </a:rPr>
              <a:t>Финансовые значения указаны в млн ₽.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6053328"/>
            <a:ext cx="3429000" cy="4297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>
                <a:solidFill>
                  <a:srgbClr val="00000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BackgroundTexture" descr="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6616" y="237744"/>
            <a:ext cx="8229600" cy="530352"/>
          </a:xfrm>
          <a:noFill/>
          <a:ln>
            <a:noFill/>
          </a:ln>
        </p:spPr>
        <p:txBody>
          <a:bodyPr anchor="ctr"/>
          <a:lstStyle/>
          <a:p>
            <a:pPr algn="r"/>
            <a:r>
              <a:rPr sz="2200" b="1">
                <a:solidFill>
                  <a:srgbClr val="000000"/>
                </a:solidFill>
                <a:latin typeface="Calibri"/>
              </a:rPr>
              <a:t>Анализ финансовой эффективности предприятий</a:t>
            </a:r>
          </a:p>
        </p:txBody>
      </p:sp>
      <p:pic>
        <p:nvPicPr>
          <p:cNvPr id="4" name="Picture 3" descr="gk_efficiency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" y="841248"/>
            <a:ext cx="4572000" cy="2542032"/>
          </a:xfrm>
          <a:prstGeom prst="rect">
            <a:avLst/>
          </a:prstGeom>
        </p:spPr>
      </p:pic>
      <p:pic>
        <p:nvPicPr>
          <p:cNvPr id="5" name="Picture 4" descr="gk_financial_result_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5736" y="2816352"/>
            <a:ext cx="4288536" cy="2542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0352" y="6053328"/>
            <a:ext cx="3429000" cy="4297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>
                <a:solidFill>
                  <a:srgbClr val="00000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165</TotalTime>
  <Words>424</Words>
  <Application>Microsoft Macintosh PowerPoint</Application>
  <PresentationFormat>Экран (4:3)</PresentationFormat>
  <Paragraphs>134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12</vt:i4>
      </vt:variant>
    </vt:vector>
  </HeadingPairs>
  <TitlesOfParts>
    <vt:vector size="20" baseType="lpstr">
      <vt:lpstr>Arial</vt:lpstr>
      <vt:lpstr>Calibri</vt:lpstr>
      <vt:lpstr>Symbol</vt:lpstr>
      <vt:lpstr>Times New Roman</vt:lpstr>
      <vt:lpstr>tuiText</vt:lpstr>
      <vt:lpstr>Wingdings</vt:lpstr>
      <vt:lpstr>Office Theme</vt:lpstr>
      <vt:lpstr>Office Theme</vt:lpstr>
      <vt:lpstr>Результаты работы</vt:lpstr>
      <vt:lpstr>Данные по Горячему ключу</vt:lpstr>
      <vt:lpstr>Презентация PowerPoint</vt:lpstr>
      <vt:lpstr>Сравнение Краснодара и Горячего Ключа</vt:lpstr>
      <vt:lpstr>Уменьшение кол-ва значений выходной переменной</vt:lpstr>
      <vt:lpstr>Кластерный анализ правил</vt:lpstr>
      <vt:lpstr>Таблица фин результатов</vt:lpstr>
      <vt:lpstr>Финансовая проверка выборки ресторанов Краснодара</vt:lpstr>
      <vt:lpstr>Презентация PowerPoint</vt:lpstr>
      <vt:lpstr>Анализ финансовой эффективности предприятий</vt:lpstr>
      <vt:lpstr>Презентация PowerPoint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Результаты работы</dc:title>
  <dc:subject/>
  <dc:creator/>
  <dc:description/>
  <cp:lastModifiedBy>Igor Kuznetsov</cp:lastModifiedBy>
  <cp:revision>11</cp:revision>
  <dcterms:created xsi:type="dcterms:W3CDTF">2026-06-13T08:31:27Z</dcterms:created>
  <dcterms:modified xsi:type="dcterms:W3CDTF">2026-06-19T09:58:00Z</dcterms:modified>
  <dc:language>ru-RU</dc:language>
</cp:coreProperties>
</file>