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количество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4586"/>
              </a:solidFill>
              <a:ln w="0">
                <a:noFill/>
              </a:ln>
            </c:spPr>
          </c:dPt>
          <c:dPt>
            <c:idx val="1"/>
            <c:spPr>
              <a:solidFill>
                <a:srgbClr val="ff420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ffd320"/>
              </a:solidFill>
              <a:ln w="0">
                <a:noFill/>
              </a:ln>
            </c:spPr>
          </c:dPt>
          <c:dPt>
            <c:idx val="3"/>
            <c:spPr>
              <a:solidFill>
                <a:srgbClr val="579d1c"/>
              </a:solidFill>
              <a:ln w="0">
                <a:noFill/>
              </a:ln>
            </c:spPr>
          </c:dPt>
          <c:dPt>
            <c:idx val="4"/>
            <c:spPr>
              <a:solidFill>
                <a:srgbClr val="7e0021"/>
              </a:solidFill>
              <a:ln w="0">
                <a:noFill/>
              </a:ln>
            </c:spPr>
          </c:dPt>
          <c:dPt>
            <c:idx val="5"/>
            <c:spPr>
              <a:solidFill>
                <a:srgbClr val="83caff"/>
              </a:solidFill>
              <a:ln w="0">
                <a:noFill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4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5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</c:dLbls>
          <c:cat>
            <c:strRef>
              <c:f>categories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11</c:v>
                </c:pt>
                <c:pt idx="5">
                  <c:v>24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Arial"/>
            </a:defRPr>
          </a:pPr>
        </a:p>
      </c:txPr>
    </c:legend>
    <c:plotVisOnly val="1"/>
  </c:chart>
  <c:spPr>
    <a:solidFill>
      <a:srgbClr val="ffffff"/>
    </a:solidFill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0" sz="1300" spc="-1" strike="noStrike">
                <a:solidFill>
                  <a:srgbClr val="000000"/>
                </a:solidFill>
                <a:latin typeface="Arial"/>
              </a:defRPr>
            </a:pPr>
            <a:r>
              <a:rPr b="0" sz="1300" spc="-1" strike="noStrike">
                <a:solidFill>
                  <a:srgbClr val="000000"/>
                </a:solidFill>
                <a:latin typeface="Arial"/>
              </a:rPr>
              <a:t>Распределение по выходным оценкам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B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4586"/>
              </a:solidFill>
              <a:ln w="0">
                <a:noFill/>
              </a:ln>
            </c:spPr>
          </c:dPt>
          <c:dPt>
            <c:idx val="1"/>
            <c:spPr>
              <a:solidFill>
                <a:srgbClr val="ff420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ffd320"/>
              </a:solidFill>
              <a:ln w="0">
                <a:noFill/>
              </a:ln>
            </c:spPr>
          </c:dPt>
          <c:dPt>
            <c:idx val="3"/>
            <c:spPr>
              <a:solidFill>
                <a:srgbClr val="579d1c"/>
              </a:solidFill>
              <a:ln w="0">
                <a:noFill/>
              </a:ln>
            </c:spPr>
          </c:dPt>
          <c:dPt>
            <c:idx val="4"/>
            <c:spPr>
              <a:solidFill>
                <a:srgbClr val="7e0021"/>
              </a:solidFill>
              <a:ln w="0">
                <a:noFill/>
              </a:ln>
            </c:spPr>
          </c:dPt>
          <c:dPt>
            <c:idx val="5"/>
            <c:spPr>
              <a:solidFill>
                <a:srgbClr val="83caff"/>
              </a:solidFill>
              <a:ln w="0">
                <a:noFill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4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5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dLblPos val="bestFit"/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bestFit"/>
            <c:showLegendKey val="0"/>
            <c:showVal val="0"/>
            <c:showCatName val="0"/>
            <c:showSerName val="0"/>
            <c:showPercent val="0"/>
            <c:separator> </c:separator>
            <c:showLeaderLines val="1"/>
          </c:dLbls>
          <c:cat>
            <c:strRef>
              <c:f>categories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37</c:v>
                </c:pt>
                <c:pt idx="1">
                  <c:v>1</c:v>
                </c:pt>
                <c:pt idx="2">
                  <c:v>1</c:v>
                </c:pt>
                <c:pt idx="3">
                  <c:v>5</c:v>
                </c:pt>
                <c:pt idx="4">
                  <c:v>187</c:v>
                </c:pt>
                <c:pt idx="5">
                  <c:v>406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Arial"/>
            </a:defRPr>
          </a:pPr>
        </a:p>
      </c:txPr>
    </c:legend>
    <c:plotVisOnly val="1"/>
    <c:dispBlanksAs val="zero"/>
  </c:chart>
  <c:spPr>
    <a:solidFill>
      <a:srgbClr val="ffffff"/>
    </a:solidFill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pie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количество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explosion val="0"/>
          <c:dPt>
            <c:idx val="0"/>
            <c:spPr>
              <a:solidFill>
                <a:srgbClr val="004586"/>
              </a:solidFill>
              <a:ln w="0">
                <a:noFill/>
              </a:ln>
            </c:spPr>
          </c:dPt>
          <c:dPt>
            <c:idx val="1"/>
            <c:spPr>
              <a:solidFill>
                <a:srgbClr val="ff420e"/>
              </a:solidFill>
              <a:ln w="0">
                <a:noFill/>
              </a:ln>
            </c:spPr>
          </c:dPt>
          <c:dPt>
            <c:idx val="2"/>
            <c:spPr>
              <a:solidFill>
                <a:srgbClr val="ffd320"/>
              </a:solidFill>
              <a:ln w="0">
                <a:noFill/>
              </a:ln>
            </c:spPr>
          </c:dPt>
          <c:dPt>
            <c:idx val="3"/>
            <c:spPr>
              <a:solidFill>
                <a:srgbClr val="579d1c"/>
              </a:solidFill>
              <a:ln w="0">
                <a:noFill/>
              </a:ln>
            </c:spPr>
          </c:dPt>
          <c:dPt>
            <c:idx val="4"/>
            <c:spPr>
              <a:solidFill>
                <a:srgbClr val="7e0021"/>
              </a:solidFill>
              <a:ln w="0">
                <a:noFill/>
              </a:ln>
            </c:spPr>
          </c:dPt>
          <c:dPt>
            <c:idx val="5"/>
            <c:spPr>
              <a:solidFill>
                <a:srgbClr val="83caff"/>
              </a:solidFill>
              <a:ln w="0">
                <a:noFill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3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4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5"/>
              <c:txPr>
                <a:bodyPr wrap="none"/>
                <a:lstStyle/>
                <a:p>
                  <a:pPr>
                    <a:defRPr b="0" sz="1000" spc="-1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</c:dLbls>
          <c:cat>
            <c:strRef>
              <c:f>categories</c:f>
              <c:strCache>
                <c:ptCount val="6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11</c:v>
                </c:pt>
                <c:pt idx="5">
                  <c:v>24</c:v>
                </c:pt>
              </c:numCache>
            </c:numRef>
          </c:val>
        </c:ser>
        <c:firstSliceAng val="0"/>
      </c:pieChart>
      <c:spPr>
        <a:noFill/>
        <a:ln w="0">
          <a:noFill/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Arial"/>
            </a:defRPr>
          </a:pPr>
        </a:p>
      </c:txPr>
    </c:legend>
    <c:plotVisOnly val="1"/>
  </c:chart>
  <c:spPr>
    <a:solidFill>
      <a:srgbClr val="ffffff"/>
    </a:solidFill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sz="1800" spc="-1" strike="noStrike">
                <a:solidFill>
                  <a:srgbClr val="000000"/>
                </a:solidFill>
                <a:latin typeface="Calibri"/>
                <a:ea typeface="Calibri"/>
              </a:defRPr>
            </a:pPr>
            <a:r>
              <a:rPr b="1" sz="1800" spc="-1" strike="noStrike">
                <a:solidFill>
                  <a:srgbClr val="000000"/>
                </a:solidFill>
                <a:latin typeface="Calibri"/>
                <a:ea typeface="Calibri"/>
              </a:rPr>
              <a:t>Эффективность по топ-6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Эффективность, %</c:v>
                </c:pt>
              </c:strCache>
            </c:strRef>
          </c:tx>
          <c:spPr>
            <a:solidFill>
              <a:srgbClr val="156082"/>
            </a:solidFill>
            <a:ln w="0">
              <a:noFill/>
            </a:ln>
          </c:spPr>
          <c:invertIfNegative val="0"/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  <a:ea typeface="Calibri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6"/>
                <c:pt idx="0">
                  <c:v>187 Вкусно — и точка</c:v>
                </c:pt>
                <c:pt idx="1">
                  <c:v>223 Rostic's</c:v>
                </c:pt>
                <c:pt idx="2">
                  <c:v>188 Дар Пицца</c:v>
                </c:pt>
                <c:pt idx="3">
                  <c:v>217 Баблс</c:v>
                </c:pt>
                <c:pt idx="4">
                  <c:v>241 Диканька</c:v>
                </c:pt>
                <c:pt idx="5">
                  <c:v>246 Чик Чак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-30.1535974130962</c:v>
                </c:pt>
                <c:pt idx="5">
                  <c:v>-1921.92192192192</c:v>
                </c:pt>
              </c:numCache>
            </c:numRef>
          </c:val>
        </c:ser>
        <c:gapWidth val="150"/>
        <c:overlap val="0"/>
        <c:axId val="36368854"/>
        <c:axId val="15268390"/>
      </c:barChart>
      <c:catAx>
        <c:axId val="36368854"/>
        <c:scaling>
          <c:orientation val="minMax"/>
        </c:scaling>
        <c:delete val="0"/>
        <c:axPos val="b"/>
        <c:majorGridlines>
          <c:spPr>
            <a:ln w="9360">
              <a:solidFill>
                <a:srgbClr val="cccccc"/>
              </a:solidFill>
              <a:prstDash val="dash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  <a:ea typeface="Calibri"/>
              </a:defRPr>
            </a:pPr>
          </a:p>
        </c:txPr>
        <c:crossAx val="15268390"/>
        <c:crosses val="autoZero"/>
        <c:auto val="1"/>
        <c:lblAlgn val="ctr"/>
        <c:lblOffset val="100"/>
        <c:noMultiLvlLbl val="0"/>
      </c:catAx>
      <c:valAx>
        <c:axId val="15268390"/>
        <c:scaling>
          <c:orientation val="minMax"/>
        </c:scaling>
        <c:delete val="0"/>
        <c:axPos val="l"/>
        <c:majorGridlines>
          <c:spPr>
            <a:ln w="9360">
              <a:solidFill>
                <a:srgbClr val="cccccc"/>
              </a:solidFill>
              <a:prstDash val="dash"/>
              <a:round/>
            </a:ln>
          </c:spPr>
        </c:majorGridlines>
        <c:numFmt formatCode="0.0" sourceLinked="0"/>
        <c:majorTickMark val="none"/>
        <c:minorTickMark val="none"/>
        <c:tickLblPos val="nextTo"/>
        <c:spPr>
          <a:ln w="1260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  <a:ea typeface="Calibri"/>
              </a:defRPr>
            </a:pPr>
          </a:p>
        </c:txPr>
        <c:crossAx val="36368854"/>
        <c:crosses val="autoZero"/>
        <c:crossBetween val="between"/>
      </c:valAx>
      <c:spPr>
        <a:noFill/>
        <a:ln w="0">
          <a:noFill/>
        </a:ln>
      </c:spPr>
    </c:plotArea>
    <c:plotVisOnly val="1"/>
    <c:dispBlanksAs val="zero"/>
  </c:chart>
  <c:spPr>
    <a:solidFill>
      <a:srgbClr val="ffffff"/>
    </a:solidFill>
    <a:ln w="9360">
      <a:solidFill>
        <a:srgbClr val="d9d9d9"/>
      </a:solidFill>
      <a:round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title>
      <c:tx>
        <c:rich>
          <a:bodyPr rot="0"/>
          <a:lstStyle/>
          <a:p>
            <a:pPr>
              <a:defRPr b="1" sz="1800" spc="-1" strike="noStrike">
                <a:solidFill>
                  <a:srgbClr val="000000"/>
                </a:solidFill>
                <a:latin typeface="Calibri"/>
                <a:ea typeface="Calibri"/>
              </a:defRPr>
            </a:pPr>
            <a:r>
              <a:rPr b="1" sz="1800" spc="-1" strike="noStrike">
                <a:solidFill>
                  <a:srgbClr val="000000"/>
                </a:solidFill>
                <a:latin typeface="Calibri"/>
                <a:ea typeface="Calibri"/>
              </a:rPr>
              <a:t>Топ-6: чистый результат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187 Вкусно — и точка</c:v>
                </c:pt>
              </c:strCache>
            </c:strRef>
          </c:tx>
          <c:spPr>
            <a:solidFill>
              <a:srgbClr val="156082"/>
            </a:solidFill>
            <a:ln w="38160">
              <a:solidFill>
                <a:srgbClr val="156082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  <a:ea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14174325</c:v>
                </c:pt>
                <c:pt idx="1">
                  <c:v>16959735</c:v>
                </c:pt>
                <c:pt idx="2">
                  <c:v>14405355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223 Rostic's</c:v>
                </c:pt>
              </c:strCache>
            </c:strRef>
          </c:tx>
          <c:spPr>
            <a:solidFill>
              <a:srgbClr val="e97132"/>
            </a:solidFill>
            <a:ln w="38160">
              <a:solidFill>
                <a:srgbClr val="e97132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  <a:ea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3"/>
                <c:pt idx="0">
                  <c:v>3539841</c:v>
                </c:pt>
                <c:pt idx="1">
                  <c:v>5678938</c:v>
                </c:pt>
                <c:pt idx="2">
                  <c:v>4115411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188 Дар Пицца</c:v>
                </c:pt>
              </c:strCache>
            </c:strRef>
          </c:tx>
          <c:spPr>
            <a:solidFill>
              <a:srgbClr val="196b24"/>
            </a:solidFill>
            <a:ln w="38160">
              <a:solidFill>
                <a:srgbClr val="196b24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  <a:ea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3"/>
                <c:pt idx="1">
                  <c:v>485</c:v>
                </c:pt>
                <c:pt idx="2">
                  <c:v>116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label 3</c:f>
              <c:strCache>
                <c:ptCount val="1"/>
                <c:pt idx="0">
                  <c:v>217 Баблс</c:v>
                </c:pt>
              </c:strCache>
            </c:strRef>
          </c:tx>
          <c:spPr>
            <a:solidFill>
              <a:srgbClr val="0f9ed5"/>
            </a:solidFill>
            <a:ln w="38160">
              <a:solidFill>
                <a:srgbClr val="0f9ed5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  <a:ea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3</c:f>
              <c:numCache>
                <c:formatCode>General</c:formatCode>
                <c:ptCount val="3"/>
                <c:pt idx="0">
                  <c:v>82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label 4</c:f>
              <c:strCache>
                <c:ptCount val="1"/>
                <c:pt idx="0">
                  <c:v>241 Диканька</c:v>
                </c:pt>
              </c:strCache>
            </c:strRef>
          </c:tx>
          <c:spPr>
            <a:solidFill>
              <a:srgbClr val="a02b93"/>
            </a:solidFill>
            <a:ln w="38160">
              <a:solidFill>
                <a:srgbClr val="a02b93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  <a:ea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4</c:f>
              <c:numCache>
                <c:formatCode>General</c:formatCode>
                <c:ptCount val="3"/>
                <c:pt idx="0">
                  <c:v>2204</c:v>
                </c:pt>
                <c:pt idx="1">
                  <c:v>270</c:v>
                </c:pt>
                <c:pt idx="2">
                  <c:v>-3220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label 5</c:f>
              <c:strCache>
                <c:ptCount val="1"/>
                <c:pt idx="0">
                  <c:v>246 Чик Чак</c:v>
                </c:pt>
              </c:strCache>
            </c:strRef>
          </c:tx>
          <c:spPr>
            <a:solidFill>
              <a:srgbClr val="4ea72e"/>
            </a:solidFill>
            <a:ln w="38160">
              <a:solidFill>
                <a:srgbClr val="4ea72e"/>
              </a:solidFill>
              <a:round/>
            </a:ln>
          </c:spPr>
          <c:dLbls>
            <c:txPr>
              <a:bodyPr wrap="square"/>
              <a:lstStyle/>
              <a:p>
                <a:pPr>
                  <a:defRPr b="0" sz="1000" spc="-1" strike="noStrike">
                    <a:solidFill>
                      <a:srgbClr val="000000"/>
                    </a:solidFill>
                    <a:latin typeface="Calibri"/>
                    <a:ea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categories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5</c:f>
              <c:numCache>
                <c:formatCode>General</c:formatCode>
                <c:ptCount val="3"/>
                <c:pt idx="0">
                  <c:v>333</c:v>
                </c:pt>
                <c:pt idx="1">
                  <c:v>-5074</c:v>
                </c:pt>
                <c:pt idx="2">
                  <c:v>-1659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1"/>
        <c:axId val="89007392"/>
        <c:axId val="6024991"/>
      </c:lineChart>
      <c:catAx>
        <c:axId val="89007392"/>
        <c:scaling>
          <c:orientation val="minMax"/>
        </c:scaling>
        <c:delete val="0"/>
        <c:axPos val="b"/>
        <c:majorGridlines>
          <c:spPr>
            <a:ln w="9360">
              <a:solidFill>
                <a:srgbClr val="cccccc"/>
              </a:solidFill>
              <a:prstDash val="dash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60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  <a:ea typeface="Calibri"/>
              </a:defRPr>
            </a:pPr>
          </a:p>
        </c:txPr>
        <c:crossAx val="6024991"/>
        <c:crosses val="autoZero"/>
        <c:auto val="1"/>
        <c:lblAlgn val="ctr"/>
        <c:lblOffset val="100"/>
        <c:noMultiLvlLbl val="0"/>
      </c:catAx>
      <c:valAx>
        <c:axId val="6024991"/>
        <c:scaling>
          <c:orientation val="minMax"/>
        </c:scaling>
        <c:delete val="0"/>
        <c:axPos val="l"/>
        <c:majorGridlines>
          <c:spPr>
            <a:ln w="9360">
              <a:solidFill>
                <a:srgbClr val="cccccc"/>
              </a:solidFill>
              <a:prstDash val="dash"/>
              <a:round/>
            </a:ln>
          </c:spPr>
        </c:majorGridlines>
        <c:numFmt formatCode="#,##0" sourceLinked="0"/>
        <c:majorTickMark val="none"/>
        <c:minorTickMark val="none"/>
        <c:tickLblPos val="nextTo"/>
        <c:spPr>
          <a:ln w="12600">
            <a:solidFill>
              <a:srgbClr val="8b8b8b"/>
            </a:solidFill>
            <a:round/>
          </a:ln>
        </c:spPr>
        <c:txPr>
          <a:bodyPr/>
          <a:lstStyle/>
          <a:p>
            <a:pPr>
              <a:defRPr b="0" sz="1000" spc="-1" strike="noStrike">
                <a:solidFill>
                  <a:srgbClr val="000000"/>
                </a:solidFill>
                <a:latin typeface="Calibri"/>
                <a:ea typeface="Calibri"/>
              </a:defRPr>
            </a:pPr>
          </a:p>
        </c:txPr>
        <c:crossAx val="89007392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solidFill>
                <a:srgbClr val="000000"/>
              </a:solidFill>
              <a:latin typeface="Calibri"/>
              <a:ea typeface="Calibri"/>
            </a:defRPr>
          </a:pPr>
        </a:p>
      </c:txPr>
    </c:legend>
    <c:plotVisOnly val="1"/>
    <c:dispBlanksAs val="zero"/>
  </c:chart>
  <c:spPr>
    <a:solidFill>
      <a:srgbClr val="ffffff"/>
    </a:solidFill>
    <a:ln w="9360">
      <a:solidFill>
        <a:srgbClr val="d9d9d9"/>
      </a:solidFill>
      <a:round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91080"/>
            <a:ext cx="8229240" cy="150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5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E0DEED5-5EB0-48AC-9DB8-69E2F1A231B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91080"/>
            <a:ext cx="8229240" cy="1509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5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712"/>
              </a:spcBef>
              <a:buNone/>
            </a:pPr>
            <a:endParaRPr b="0" lang="ru-RU" sz="3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B250F0E-355B-4B63-82B5-50BB8A5511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324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532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5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712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87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87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36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39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339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102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9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683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42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42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34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2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42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34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2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42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34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2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4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457200" y="6247440"/>
            <a:ext cx="2130120" cy="47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&lt;дата/время&gt;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126960" y="6247440"/>
            <a:ext cx="2898360" cy="47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6555960" y="6247440"/>
            <a:ext cx="2130120" cy="472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FCBBFAE-C70F-4FBD-9B4D-CD3D6B39DF7D}" type="slidenum"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&lt;номер&gt;</a:t>
            </a:fld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chart" Target="../charts/chart3.xml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4.xml"/><Relationship Id="rId2" Type="http://schemas.openxmlformats.org/officeDocument/2006/relationships/chart" Target="../charts/chart5.xml"/><Relationship Id="rId3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24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5320" spc="-1" strike="noStrike">
                <a:solidFill>
                  <a:srgbClr val="000000"/>
                </a:solidFill>
                <a:latin typeface="Arial"/>
              </a:rPr>
              <a:t>Результаты работы</a:t>
            </a:r>
            <a:endParaRPr b="0" lang="ru-RU" sz="53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r">
              <a:buNone/>
            </a:pPr>
            <a:r>
              <a:rPr b="0" lang="ru-RU" sz="3870" spc="-1" strike="noStrike">
                <a:solidFill>
                  <a:srgbClr val="000000"/>
                </a:solidFill>
                <a:latin typeface="Arial"/>
              </a:rPr>
              <a:t>Павлов ,Буткевич,</a:t>
            </a:r>
            <a:endParaRPr b="0" lang="ru-RU" sz="3870" spc="-1" strike="noStrike">
              <a:solidFill>
                <a:srgbClr val="000000"/>
              </a:solidFill>
              <a:latin typeface="Arial"/>
            </a:endParaRPr>
          </a:p>
          <a:p>
            <a:pPr indent="0" algn="r">
              <a:buNone/>
            </a:pPr>
            <a:r>
              <a:rPr b="0" lang="ru-RU" sz="3870" spc="-1" strike="noStrike">
                <a:solidFill>
                  <a:srgbClr val="000000"/>
                </a:solidFill>
                <a:latin typeface="Arial"/>
              </a:rPr>
              <a:t>Шепелев,Светиков,Лаптев,</a:t>
            </a:r>
            <a:endParaRPr b="0" lang="ru-RU" sz="3870" spc="-1" strike="noStrike">
              <a:solidFill>
                <a:srgbClr val="000000"/>
              </a:solidFill>
              <a:latin typeface="Arial"/>
            </a:endParaRPr>
          </a:p>
          <a:p>
            <a:pPr indent="0" algn="r">
              <a:buNone/>
            </a:pPr>
            <a:r>
              <a:rPr b="0" lang="ru-RU" sz="3870" spc="-1" strike="noStrike">
                <a:solidFill>
                  <a:srgbClr val="000000"/>
                </a:solidFill>
                <a:latin typeface="Arial"/>
              </a:rPr>
              <a:t>Дудченко,Кузнецов,Тарасона</a:t>
            </a:r>
            <a:endParaRPr b="0" lang="ru-RU" sz="387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240"/>
            <a:ext cx="8229240" cy="80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ru-RU" sz="2400" spc="-1" strike="noStrike">
                <a:solidFill>
                  <a:srgbClr val="000000"/>
                </a:solidFill>
                <a:latin typeface="Times New Roman"/>
              </a:rPr>
              <a:t>Данные по Горячему ключу</a:t>
            </a:r>
            <a:endParaRPr b="1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" name="" descr=""/>
          <p:cNvPicPr/>
          <p:nvPr/>
        </p:nvPicPr>
        <p:blipFill>
          <a:blip r:embed="rId1"/>
          <a:stretch/>
        </p:blipFill>
        <p:spPr>
          <a:xfrm>
            <a:off x="601560" y="1260000"/>
            <a:ext cx="8038440" cy="5032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"/>
          <p:cNvSpPr txBox="1"/>
          <p:nvPr/>
        </p:nvSpPr>
        <p:spPr>
          <a:xfrm>
            <a:off x="457560" y="273600"/>
            <a:ext cx="8229240" cy="80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1" lang="ru-RU" sz="2400" spc="-1" strike="noStrike">
                <a:solidFill>
                  <a:srgbClr val="000000"/>
                </a:solidFill>
                <a:latin typeface="Times New Roman"/>
              </a:rPr>
              <a:t>Данные по Горячему ключу</a:t>
            </a:r>
            <a:endParaRPr b="1" lang="ru-RU" sz="24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4" name=""/>
          <p:cNvGraphicFramePr/>
          <p:nvPr/>
        </p:nvGraphicFramePr>
        <p:xfrm>
          <a:off x="1620000" y="28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5" name=""/>
          <p:cNvGraphicFramePr/>
          <p:nvPr/>
        </p:nvGraphicFramePr>
        <p:xfrm>
          <a:off x="1080000" y="1856520"/>
          <a:ext cx="7210440" cy="930240"/>
        </p:xfrm>
        <a:graphic>
          <a:graphicData uri="http://schemas.openxmlformats.org/drawingml/2006/table">
            <a:tbl>
              <a:tblPr/>
              <a:tblGrid>
                <a:gridCol w="1356120"/>
                <a:gridCol w="703800"/>
                <a:gridCol w="1029960"/>
                <a:gridCol w="1029960"/>
                <a:gridCol w="1029960"/>
                <a:gridCol w="1029960"/>
                <a:gridCol w="103068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оценка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количество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24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3240"/>
            <a:ext cx="8229240" cy="62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Сравнение Краснодара и Горячего Ключа</a:t>
            </a:r>
            <a:endParaRPr b="1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7" name=""/>
          <p:cNvGraphicFramePr/>
          <p:nvPr/>
        </p:nvGraphicFramePr>
        <p:xfrm>
          <a:off x="4320000" y="2281320"/>
          <a:ext cx="4680000" cy="2758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8" name=""/>
          <p:cNvSpPr txBox="1"/>
          <p:nvPr/>
        </p:nvSpPr>
        <p:spPr>
          <a:xfrm>
            <a:off x="5220000" y="1620000"/>
            <a:ext cx="3240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Краснодар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9" name=""/>
          <p:cNvGraphicFramePr/>
          <p:nvPr/>
        </p:nvGraphicFramePr>
        <p:xfrm>
          <a:off x="180360" y="2281320"/>
          <a:ext cx="467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"/>
          <p:cNvSpPr txBox="1"/>
          <p:nvPr/>
        </p:nvSpPr>
        <p:spPr>
          <a:xfrm>
            <a:off x="720000" y="1440000"/>
            <a:ext cx="3420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/>
            <a:r>
              <a:rPr b="0" lang="ru-RU" sz="1800" spc="-1" strike="noStrike">
                <a:solidFill>
                  <a:srgbClr val="000000"/>
                </a:solidFill>
                <a:latin typeface="Times New Roman"/>
              </a:rPr>
              <a:t>Горячий Ключ</a:t>
            </a:r>
            <a:endParaRPr b="0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24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ru-RU" sz="2000" spc="-1" strike="noStrike">
                <a:solidFill>
                  <a:srgbClr val="000000"/>
                </a:solidFill>
                <a:latin typeface="Times New Roman"/>
              </a:rPr>
              <a:t>Уменьшение кол-ва значений выходной переменной</a:t>
            </a:r>
            <a:endParaRPr b="1" lang="ru-RU" sz="20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22" name=""/>
          <p:cNvGraphicFramePr/>
          <p:nvPr/>
        </p:nvGraphicFramePr>
        <p:xfrm>
          <a:off x="457200" y="1604520"/>
          <a:ext cx="8228880" cy="1384920"/>
        </p:xfrm>
        <a:graphic>
          <a:graphicData uri="http://schemas.openxmlformats.org/drawingml/2006/table">
            <a:tbl>
              <a:tblPr/>
              <a:tblGrid>
                <a:gridCol w="4114440"/>
                <a:gridCol w="41148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Значение переменной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Диапазон рейтинга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0 (низкая)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[0;2)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1 (средняя)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[2;4)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2 (высокая)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indent="0" algn="ctr">
                        <a:buNone/>
                      </a:pPr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Times New Roman"/>
                        </a:rPr>
                        <a:t>[4;5]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Times New Roman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240"/>
            <a:ext cx="8229240" cy="44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1" lang="ru-RU" sz="1800" spc="-1" strike="noStrike">
                <a:solidFill>
                  <a:srgbClr val="000000"/>
                </a:solidFill>
                <a:latin typeface="Times New Roman"/>
              </a:rPr>
              <a:t>Кластерный анализ правил</a:t>
            </a:r>
            <a:endParaRPr b="1" lang="ru-RU" sz="18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" name="" descr=""/>
          <p:cNvPicPr/>
          <p:nvPr/>
        </p:nvPicPr>
        <p:blipFill>
          <a:blip r:embed="rId1"/>
          <a:stretch/>
        </p:blipFill>
        <p:spPr>
          <a:xfrm>
            <a:off x="485280" y="813240"/>
            <a:ext cx="8154720" cy="5666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240"/>
            <a:ext cx="8229240" cy="44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ru-RU" sz="1500" spc="-1" strike="noStrike">
                <a:solidFill>
                  <a:srgbClr val="000000"/>
                </a:solidFill>
                <a:latin typeface="Times New Roman"/>
              </a:rPr>
              <a:t>Таблица фин результатов</a:t>
            </a:r>
            <a:endParaRPr b="0" lang="ru-RU" sz="15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26" name=""/>
          <p:cNvGraphicFramePr/>
          <p:nvPr/>
        </p:nvGraphicFramePr>
        <p:xfrm>
          <a:off x="957600" y="680040"/>
          <a:ext cx="7742880" cy="4805640"/>
        </p:xfrm>
        <a:graphic>
          <a:graphicData uri="http://schemas.openxmlformats.org/drawingml/2006/table">
            <a:tbl>
              <a:tblPr/>
              <a:tblGrid>
                <a:gridCol w="997920"/>
                <a:gridCol w="1044000"/>
                <a:gridCol w="1020960"/>
                <a:gridCol w="1441080"/>
                <a:gridCol w="720720"/>
                <a:gridCol w="720720"/>
                <a:gridCol w="900360"/>
                <a:gridCol w="897480"/>
              </a:tblGrid>
              <a:tr h="109620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Группа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Строка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Запись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Юрлицо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ИНН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Эффективность, %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Сумма чистой прибыли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b="1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Сумма чистого убытка</a:t>
                      </a:r>
                      <a:endParaRPr b="1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4024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 макс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187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Вкусно — и точка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ООО "СИСТЕМА ПБО"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7710044140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100,0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45 539 415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 макс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223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Rostic's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ООО "ЮНИРЕСТ"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7722561551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100,0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13 334 190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109620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 сред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188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Дар Пицца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ООО "ПИЦЦА КРАСНОДАР"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2311356162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100,0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601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 сред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217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Баблс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ООО "БАБЛС"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2721254750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100,0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82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8428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 мин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241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Диканька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ООО "ДИКАНЬКА"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7456001807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-30,2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2 474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3 220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840240"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 мин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246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Чик Чак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ООО "ЧАК-ЧАК"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1655245067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-1921,9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333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r"/>
                      <a:r>
                        <a:rPr b="0" lang="ru-RU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6 733</a:t>
                      </a:r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60000" y="273240"/>
            <a:ext cx="8229240" cy="44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Финансовая проверка выборки ресторанов Краснодара</a:t>
            </a:r>
            <a:endParaRPr b="0" lang="ru-RU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600000" y="900000"/>
            <a:ext cx="504000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Строки 162-250, лист "Все Значения" | период 2023-2025</a:t>
            </a:r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9" name="" descr=""/>
          <p:cNvPicPr/>
          <p:nvPr/>
        </p:nvPicPr>
        <p:blipFill>
          <a:blip r:embed="rId1"/>
          <a:stretch/>
        </p:blipFill>
        <p:spPr>
          <a:xfrm>
            <a:off x="198000" y="1620000"/>
            <a:ext cx="4122000" cy="900000"/>
          </a:xfrm>
          <a:prstGeom prst="rect">
            <a:avLst/>
          </a:prstGeom>
          <a:ln w="0">
            <a:noFill/>
          </a:ln>
        </p:spPr>
      </p:pic>
      <p:pic>
        <p:nvPicPr>
          <p:cNvPr id="30" name="" descr=""/>
          <p:cNvPicPr/>
          <p:nvPr/>
        </p:nvPicPr>
        <p:blipFill>
          <a:blip r:embed="rId2"/>
          <a:stretch/>
        </p:blipFill>
        <p:spPr>
          <a:xfrm>
            <a:off x="4680000" y="1620000"/>
            <a:ext cx="4236480" cy="3223440"/>
          </a:xfrm>
          <a:prstGeom prst="rect">
            <a:avLst/>
          </a:prstGeom>
          <a:ln w="0">
            <a:noFill/>
          </a:ln>
        </p:spPr>
      </p:pic>
      <p:sp>
        <p:nvSpPr>
          <p:cNvPr id="31" name=""/>
          <p:cNvSpPr txBox="1"/>
          <p:nvPr/>
        </p:nvSpPr>
        <p:spPr>
          <a:xfrm>
            <a:off x="180000" y="2880000"/>
            <a:ext cx="4680000" cy="32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lang="ru-RU" sz="1500" spc="-1" strike="noStrike">
                <a:solidFill>
                  <a:srgbClr val="000000"/>
                </a:solidFill>
                <a:latin typeface="Times New Roman"/>
              </a:rPr>
              <a:t>Ход работы: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ru-RU" sz="1500" spc="-1" strike="noStrike">
                <a:solidFill>
                  <a:srgbClr val="000000"/>
                </a:solidFill>
                <a:latin typeface="Times New Roman"/>
                <a:ea typeface="Microsoft YaHei"/>
              </a:rPr>
              <a:t>1. Сбор исходной базы</a:t>
            </a:r>
            <a:r>
              <a:rPr b="0" lang="ru-RU" sz="1800" spc="-1" strike="noStrike">
                <a:solidFill>
                  <a:srgbClr val="000000"/>
                </a:solidFill>
                <a:latin typeface="Arial"/>
                <a:ea typeface="Microsoft YaHei"/>
              </a:rPr>
              <a:t> </a:t>
            </a:r>
            <a:r>
              <a:rPr b="0" lang="ru-RU" sz="1500" spc="-1" strike="noStrike">
                <a:solidFill>
                  <a:srgbClr val="000000"/>
                </a:solidFill>
                <a:latin typeface="Times New Roman"/>
                <a:ea typeface="Microsoft YaHei"/>
              </a:rPr>
              <a:t>(</a:t>
            </a:r>
            <a:r>
              <a:rPr b="0" i="1" lang="ru-RU" sz="1200" spc="-1" strike="noStrike">
                <a:solidFill>
                  <a:srgbClr val="000000"/>
                </a:solidFill>
                <a:latin typeface="Times New Roman"/>
                <a:ea typeface="Microsoft YaHei"/>
              </a:rPr>
              <a:t> </a:t>
            </a:r>
            <a:r>
              <a:rPr b="0" i="1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По двум районам Краснодара собраны заведения, адреса, отзывы, рейтинг и признаки локации</a:t>
            </a:r>
            <a:r>
              <a:rPr b="0" i="1" lang="en-US" sz="1300" spc="-1" strike="noStrike">
                <a:solidFill>
                  <a:srgbClr val="000000"/>
                </a:solidFill>
                <a:latin typeface="Times New Roman"/>
                <a:ea typeface="Arial"/>
              </a:rPr>
              <a:t>. </a:t>
            </a: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)</a:t>
            </a: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2. </a:t>
            </a:r>
            <a:r>
              <a:rPr b="0" lang="en-US" sz="1500" spc="-1" strike="noStrike">
                <a:solidFill>
                  <a:srgbClr val="172033"/>
                </a:solidFill>
                <a:latin typeface="Times New Roman"/>
                <a:ea typeface="Arial"/>
              </a:rPr>
              <a:t>Отбор диапазона</a:t>
            </a:r>
            <a:r>
              <a:rPr b="1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 </a:t>
            </a:r>
            <a:r>
              <a:rPr b="0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(</a:t>
            </a:r>
            <a:r>
              <a:rPr b="0" i="1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r>
              <a:rPr b="0" i="1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Из строк 162-250 выбраны 40 записей для дальнейшей финансовой проверки.</a:t>
            </a:r>
            <a:r>
              <a:rPr b="0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 )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3. </a:t>
            </a:r>
            <a:r>
              <a:rPr b="0" lang="en-US" sz="1500" spc="-1" strike="noStrike">
                <a:solidFill>
                  <a:srgbClr val="172033"/>
                </a:solidFill>
                <a:latin typeface="Times New Roman"/>
                <a:ea typeface="Arial"/>
              </a:rPr>
              <a:t>Сопоставление с юрлицами</a:t>
            </a:r>
            <a:r>
              <a:rPr b="1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 </a:t>
            </a:r>
            <a:r>
              <a:rPr b="0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(</a:t>
            </a:r>
            <a:r>
              <a:rPr b="1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 </a:t>
            </a:r>
            <a:r>
              <a:rPr b="0" i="1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Для заведений найдены ИНН и годовая отчетность БФО ФНС за 2023-2025. </a:t>
            </a:r>
            <a:r>
              <a:rPr b="0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)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4.</a:t>
            </a:r>
            <a:r>
              <a:rPr b="0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r>
              <a:rPr b="0" lang="en-US" sz="1500" spc="-1" strike="noStrike">
                <a:solidFill>
                  <a:srgbClr val="000000"/>
                </a:solidFill>
                <a:latin typeface="Times New Roman"/>
                <a:ea typeface="Arial"/>
              </a:rPr>
              <a:t>Расчет эффективности</a:t>
            </a:r>
            <a:r>
              <a:rPr b="1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 </a:t>
            </a:r>
            <a:r>
              <a:rPr b="0" lang="en-US" sz="1200" spc="-1" strike="noStrike">
                <a:solidFill>
                  <a:srgbClr val="172033"/>
                </a:solidFill>
                <a:latin typeface="Times New Roman"/>
                <a:ea typeface="Arial"/>
              </a:rPr>
              <a:t>(</a:t>
            </a:r>
            <a:r>
              <a:rPr b="1" i="1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 </a:t>
            </a:r>
            <a:r>
              <a:rPr b="0" i="1" lang="en-US" sz="1200" spc="-1" strike="noStrike">
                <a:solidFill>
                  <a:srgbClr val="000000"/>
                </a:solidFill>
                <a:latin typeface="Times New Roman"/>
                <a:ea typeface="Arial"/>
              </a:rPr>
              <a:t>Показатель рассчитан по формуле: ((прибыль - убыток) / прибыль) x 100.</a:t>
            </a:r>
            <a:r>
              <a:rPr b="1" lang="en-US" sz="1200" spc="-1" strike="noStrike">
                <a:solidFill>
                  <a:srgbClr val="172033"/>
                </a:solidFill>
                <a:latin typeface="Arial"/>
                <a:ea typeface="Arial"/>
              </a:rPr>
              <a:t> </a:t>
            </a:r>
            <a:r>
              <a:rPr b="0" lang="en-US" sz="1200" spc="-1" strike="noStrike">
                <a:solidFill>
                  <a:srgbClr val="172033"/>
                </a:solidFill>
                <a:latin typeface="Times New Roman"/>
                <a:ea typeface="Arial"/>
              </a:rPr>
              <a:t>)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"/>
          <p:cNvSpPr txBox="1"/>
          <p:nvPr/>
        </p:nvSpPr>
        <p:spPr>
          <a:xfrm>
            <a:off x="364680" y="273600"/>
            <a:ext cx="8229240" cy="44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Финансовая проверка выборки ресторанов Краснодара</a:t>
            </a:r>
            <a:endParaRPr b="0" lang="ru-RU" sz="21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33" name=""/>
          <p:cNvGraphicFramePr/>
          <p:nvPr/>
        </p:nvGraphicFramePr>
        <p:xfrm>
          <a:off x="256680" y="912240"/>
          <a:ext cx="5143320" cy="304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34" name=""/>
          <p:cNvGraphicFramePr/>
          <p:nvPr/>
        </p:nvGraphicFramePr>
        <p:xfrm>
          <a:off x="3600000" y="4140000"/>
          <a:ext cx="5503320" cy="2507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</TotalTime>
  <Application>LibreOffice/7.6.7.2$Windows_X86_64 LibreOffice_project/dd47e4b30cb7dab30588d6c79c651f218165e3c5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2026-06-13T08:31:27Z</dcterms:created>
  <dc:creator/>
  <dc:description/>
  <dc:language>ru-RU</dc:language>
  <cp:lastModifiedBy/>
  <dcterms:modified xsi:type="dcterms:W3CDTF">2026-06-13T09:56:59Z</dcterms:modified>
  <cp:revision>7</cp:revision>
  <dc:subject/>
  <dc:title/>
</cp:coreProperties>
</file>