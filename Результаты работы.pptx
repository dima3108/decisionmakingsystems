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4586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f420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ffd320"/>
              </a:solidFill>
              <a:ln w="0">
                <a:noFill/>
              </a:ln>
            </c:spPr>
          </c:dPt>
          <c:dPt>
            <c:idx val="3"/>
            <c:spPr>
              <a:solidFill>
                <a:srgbClr val="579d1c"/>
              </a:solidFill>
              <a:ln w="0">
                <a:noFill/>
              </a:ln>
            </c:spPr>
          </c:dPt>
          <c:dPt>
            <c:idx val="4"/>
            <c:spPr>
              <a:solidFill>
                <a:srgbClr val="7e0021"/>
              </a:solidFill>
              <a:ln w="0">
                <a:noFill/>
              </a:ln>
            </c:spPr>
          </c:dPt>
          <c:dPt>
            <c:idx val="5"/>
            <c:spPr>
              <a:solidFill>
                <a:srgbClr val="83caff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4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5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11</c:v>
                </c:pt>
                <c:pt idx="5">
                  <c:v>24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  <a:ea typeface="DejaVu Sans"/>
            </a:defRPr>
          </a:pPr>
        </a:p>
      </c:txPr>
    </c:legend>
    <c:plotVisOnly val="1"/>
    <c:dispBlanksAs val="zero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  <a:r>
              <a:rPr b="0" sz="1300" spc="-1" strike="noStrike">
                <a:solidFill>
                  <a:srgbClr val="000000"/>
                </a:solidFill>
                <a:latin typeface="Arial"/>
                <a:ea typeface="DejaVu Sans"/>
              </a:rPr>
              <a:t>Распределение по выходным оценкам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Столбец B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4586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f420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ffd320"/>
              </a:solidFill>
              <a:ln w="0">
                <a:noFill/>
              </a:ln>
            </c:spPr>
          </c:dPt>
          <c:dPt>
            <c:idx val="3"/>
            <c:spPr>
              <a:solidFill>
                <a:srgbClr val="579d1c"/>
              </a:solidFill>
              <a:ln w="0">
                <a:noFill/>
              </a:ln>
            </c:spPr>
          </c:dPt>
          <c:dPt>
            <c:idx val="4"/>
            <c:spPr>
              <a:solidFill>
                <a:srgbClr val="7e0021"/>
              </a:solidFill>
              <a:ln w="0">
                <a:noFill/>
              </a:ln>
            </c:spPr>
          </c:dPt>
          <c:dPt>
            <c:idx val="5"/>
            <c:spPr>
              <a:solidFill>
                <a:srgbClr val="83caff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4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5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37</c:v>
                </c:pt>
                <c:pt idx="1">
                  <c:v>1</c:v>
                </c:pt>
                <c:pt idx="2">
                  <c:v>1</c:v>
                </c:pt>
                <c:pt idx="3">
                  <c:v>5</c:v>
                </c:pt>
                <c:pt idx="4">
                  <c:v>187</c:v>
                </c:pt>
                <c:pt idx="5">
                  <c:v>406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  <a:ea typeface="DejaVu Sans"/>
            </a:defRPr>
          </a:pPr>
        </a:p>
      </c:txPr>
    </c:legend>
    <c:plotVisOnly val="1"/>
    <c:dispBlanksAs val="zero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4586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f420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ffd320"/>
              </a:solidFill>
              <a:ln w="0">
                <a:noFill/>
              </a:ln>
            </c:spPr>
          </c:dPt>
          <c:dPt>
            <c:idx val="3"/>
            <c:spPr>
              <a:solidFill>
                <a:srgbClr val="579d1c"/>
              </a:solidFill>
              <a:ln w="0">
                <a:noFill/>
              </a:ln>
            </c:spPr>
          </c:dPt>
          <c:dPt>
            <c:idx val="4"/>
            <c:spPr>
              <a:solidFill>
                <a:srgbClr val="7e0021"/>
              </a:solidFill>
              <a:ln w="0">
                <a:noFill/>
              </a:ln>
            </c:spPr>
          </c:dPt>
          <c:dPt>
            <c:idx val="5"/>
            <c:spPr>
              <a:solidFill>
                <a:srgbClr val="83caff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4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5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11</c:v>
                </c:pt>
                <c:pt idx="5">
                  <c:v>24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  <a:ea typeface="DejaVu Sans"/>
            </a:defRPr>
          </a:pPr>
        </a:p>
      </c:txPr>
    </c:legend>
    <c:plotVisOnly val="1"/>
    <c:dispBlanksAs val="zero"/>
  </c:chart>
  <c:spPr>
    <a:solidFill>
      <a:srgbClr val="ffffff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1800" spc="-1" strike="noStrike">
                <a:solidFill>
                  <a:srgbClr val="000000"/>
                </a:solidFill>
                <a:latin typeface="Calibri"/>
                <a:ea typeface="Calibri"/>
              </a:defRPr>
            </a:pPr>
            <a:r>
              <a:rPr b="1" sz="1800" spc="-1" strike="noStrike">
                <a:solidFill>
                  <a:srgbClr val="000000"/>
                </a:solidFill>
                <a:latin typeface="Calibri"/>
                <a:ea typeface="Calibri"/>
              </a:rPr>
              <a:t>Эффективность по топ-6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Эффективность, %</c:v>
                </c:pt>
              </c:strCache>
            </c:strRef>
          </c:tx>
          <c:spPr>
            <a:solidFill>
              <a:srgbClr val="156082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  <a:ea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187 Вкусно — и точка</c:v>
                </c:pt>
                <c:pt idx="1">
                  <c:v>223 Rostic's</c:v>
                </c:pt>
                <c:pt idx="2">
                  <c:v>188 Дар Пицца</c:v>
                </c:pt>
                <c:pt idx="3">
                  <c:v>217 Баблс</c:v>
                </c:pt>
                <c:pt idx="4">
                  <c:v>241 Диканька</c:v>
                </c:pt>
                <c:pt idx="5">
                  <c:v>246 Чик Чак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-30.1535974130962</c:v>
                </c:pt>
                <c:pt idx="5">
                  <c:v>-1921.92192192192</c:v>
                </c:pt>
              </c:numCache>
            </c:numRef>
          </c:val>
        </c:ser>
        <c:gapWidth val="150"/>
        <c:overlap val="0"/>
        <c:axId val="1095585"/>
        <c:axId val="50445220"/>
      </c:barChart>
      <c:catAx>
        <c:axId val="1095585"/>
        <c:scaling>
          <c:orientation val="minMax"/>
        </c:scaling>
        <c:delete val="0"/>
        <c:axPos val="b"/>
        <c:majorGridlines>
          <c:spPr>
            <a:ln w="9360">
              <a:solidFill>
                <a:srgbClr val="cccccc"/>
              </a:solidFill>
              <a:prstDash val="dash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  <a:ea typeface="Calibri"/>
              </a:defRPr>
            </a:pPr>
          </a:p>
        </c:txPr>
        <c:crossAx val="50445220"/>
        <c:crosses val="autoZero"/>
        <c:auto val="1"/>
        <c:lblAlgn val="ctr"/>
        <c:lblOffset val="100"/>
        <c:noMultiLvlLbl val="0"/>
      </c:catAx>
      <c:valAx>
        <c:axId val="50445220"/>
        <c:scaling>
          <c:orientation val="minMax"/>
        </c:scaling>
        <c:delete val="0"/>
        <c:axPos val="l"/>
        <c:majorGridlines>
          <c:spPr>
            <a:ln w="9360">
              <a:solidFill>
                <a:srgbClr val="cccccc"/>
              </a:solidFill>
              <a:prstDash val="dash"/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1260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  <a:ea typeface="Calibri"/>
              </a:defRPr>
            </a:pPr>
          </a:p>
        </c:txPr>
        <c:crossAx val="109558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</c:chart>
  <c:spPr>
    <a:solidFill>
      <a:srgbClr val="ffffff"/>
    </a:solidFill>
    <a:ln w="9360">
      <a:solidFill>
        <a:srgbClr val="d9d9d9"/>
      </a:solidFill>
      <a:round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1800" spc="-1" strike="noStrike">
                <a:solidFill>
                  <a:srgbClr val="000000"/>
                </a:solidFill>
                <a:latin typeface="Calibri"/>
                <a:ea typeface="Calibri"/>
              </a:defRPr>
            </a:pPr>
            <a:r>
              <a:rPr b="1" sz="1800" spc="-1" strike="noStrike">
                <a:solidFill>
                  <a:srgbClr val="000000"/>
                </a:solidFill>
                <a:latin typeface="Calibri"/>
                <a:ea typeface="Calibri"/>
              </a:rPr>
              <a:t>Топ-6: чистый результат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187 Вкусно — и точка</c:v>
                </c:pt>
              </c:strCache>
            </c:strRef>
          </c:tx>
          <c:spPr>
            <a:solidFill>
              <a:srgbClr val="156082"/>
            </a:solidFill>
            <a:ln w="38160">
              <a:solidFill>
                <a:srgbClr val="156082"/>
              </a:solidFill>
              <a:round/>
            </a:ln>
          </c:spP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  <a:ea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14174325</c:v>
                </c:pt>
                <c:pt idx="1">
                  <c:v>16959735</c:v>
                </c:pt>
                <c:pt idx="2">
                  <c:v>14405355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223 Rostic's</c:v>
                </c:pt>
              </c:strCache>
            </c:strRef>
          </c:tx>
          <c:spPr>
            <a:solidFill>
              <a:srgbClr val="e97132"/>
            </a:solidFill>
            <a:ln w="38160">
              <a:solidFill>
                <a:srgbClr val="e97132"/>
              </a:solidFill>
              <a:round/>
            </a:ln>
          </c:spP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  <a:ea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3539841</c:v>
                </c:pt>
                <c:pt idx="1">
                  <c:v>5678938</c:v>
                </c:pt>
                <c:pt idx="2">
                  <c:v>4115411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188 Дар Пицца</c:v>
                </c:pt>
              </c:strCache>
            </c:strRef>
          </c:tx>
          <c:spPr>
            <a:solidFill>
              <a:srgbClr val="196b24"/>
            </a:solidFill>
            <a:ln w="38160">
              <a:solidFill>
                <a:srgbClr val="196b24"/>
              </a:solidFill>
              <a:round/>
            </a:ln>
          </c:spP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  <a:ea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1">
                  <c:v>485</c:v>
                </c:pt>
                <c:pt idx="2">
                  <c:v>116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217 Баблс</c:v>
                </c:pt>
              </c:strCache>
            </c:strRef>
          </c:tx>
          <c:spPr>
            <a:solidFill>
              <a:srgbClr val="0f9ed5"/>
            </a:solidFill>
            <a:ln w="38160">
              <a:solidFill>
                <a:srgbClr val="0f9ed5"/>
              </a:solidFill>
              <a:round/>
            </a:ln>
          </c:spP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  <a:ea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3"/>
                <c:pt idx="0">
                  <c:v>82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label 4</c:f>
              <c:strCache>
                <c:ptCount val="1"/>
                <c:pt idx="0">
                  <c:v>241 Диканька</c:v>
                </c:pt>
              </c:strCache>
            </c:strRef>
          </c:tx>
          <c:spPr>
            <a:solidFill>
              <a:srgbClr val="a02b93"/>
            </a:solidFill>
            <a:ln w="38160">
              <a:solidFill>
                <a:srgbClr val="a02b93"/>
              </a:solidFill>
              <a:round/>
            </a:ln>
          </c:spP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  <a:ea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4</c:f>
              <c:numCache>
                <c:formatCode>General</c:formatCode>
                <c:ptCount val="3"/>
                <c:pt idx="0">
                  <c:v>2204</c:v>
                </c:pt>
                <c:pt idx="1">
                  <c:v>270</c:v>
                </c:pt>
                <c:pt idx="2">
                  <c:v>-3220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label 5</c:f>
              <c:strCache>
                <c:ptCount val="1"/>
                <c:pt idx="0">
                  <c:v>246 Чик Чак</c:v>
                </c:pt>
              </c:strCache>
            </c:strRef>
          </c:tx>
          <c:spPr>
            <a:solidFill>
              <a:srgbClr val="4ea72e"/>
            </a:solidFill>
            <a:ln w="38160">
              <a:solidFill>
                <a:srgbClr val="4ea72e"/>
              </a:solidFill>
              <a:round/>
            </a:ln>
          </c:spP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  <a:ea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5</c:f>
              <c:numCache>
                <c:formatCode>General</c:formatCode>
                <c:ptCount val="3"/>
                <c:pt idx="0">
                  <c:v>333</c:v>
                </c:pt>
                <c:pt idx="1">
                  <c:v>-5074</c:v>
                </c:pt>
                <c:pt idx="2">
                  <c:v>-1659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6333173"/>
        <c:axId val="95844586"/>
      </c:lineChart>
      <c:catAx>
        <c:axId val="6333173"/>
        <c:scaling>
          <c:orientation val="minMax"/>
        </c:scaling>
        <c:delete val="0"/>
        <c:axPos val="b"/>
        <c:majorGridlines>
          <c:spPr>
            <a:ln w="9360">
              <a:solidFill>
                <a:srgbClr val="cccccc"/>
              </a:solidFill>
              <a:prstDash val="dash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  <a:ea typeface="Calibri"/>
              </a:defRPr>
            </a:pPr>
          </a:p>
        </c:txPr>
        <c:crossAx val="95844586"/>
        <c:crosses val="autoZero"/>
        <c:auto val="1"/>
        <c:lblAlgn val="ctr"/>
        <c:lblOffset val="100"/>
        <c:noMultiLvlLbl val="0"/>
      </c:catAx>
      <c:valAx>
        <c:axId val="95844586"/>
        <c:scaling>
          <c:orientation val="minMax"/>
        </c:scaling>
        <c:delete val="0"/>
        <c:axPos val="l"/>
        <c:majorGridlines>
          <c:spPr>
            <a:ln w="9360">
              <a:solidFill>
                <a:srgbClr val="cccccc"/>
              </a:solidFill>
              <a:prstDash val="dash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60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  <a:ea typeface="Calibri"/>
              </a:defRPr>
            </a:pPr>
          </a:p>
        </c:txPr>
        <c:crossAx val="633317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  <a:ea typeface="Calibri"/>
            </a:defRPr>
          </a:pPr>
        </a:p>
      </c:txPr>
    </c:legend>
    <c:plotVisOnly val="1"/>
    <c:dispBlanksAs val="zero"/>
  </c:chart>
  <c:spPr>
    <a:solidFill>
      <a:srgbClr val="ffffff"/>
    </a:solidFill>
    <a:ln w="9360">
      <a:solidFill>
        <a:srgbClr val="d9d9d9"/>
      </a:solidFill>
      <a:round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880" cy="15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F5C7FA-946C-4610-A63C-AC544FB5D4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880" cy="15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16B6EF-5CC3-4C96-9D9D-2A436155C4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880" cy="15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6960" y="6247440"/>
            <a:ext cx="289800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5960" y="6247440"/>
            <a:ext cx="212976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F1C47F-FF59-441C-8EEB-04B87A6C5116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247440"/>
            <a:ext cx="212976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880" cy="15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126960" y="6247440"/>
            <a:ext cx="289800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6555960" y="6247440"/>
            <a:ext cx="212976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ED112B-0BC0-412A-8AE5-B5010F3AB76D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457200" y="6247440"/>
            <a:ext cx="212976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5320" spc="-1" strike="noStrike">
                <a:solidFill>
                  <a:srgbClr val="000000"/>
                </a:solidFill>
                <a:latin typeface="Arial"/>
              </a:rPr>
              <a:t>Результаты работы</a:t>
            </a:r>
            <a:endParaRPr b="0" lang="ru-RU" sz="5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70" spc="-1" strike="noStrike">
                <a:solidFill>
                  <a:srgbClr val="000000"/>
                </a:solidFill>
                <a:latin typeface="Arial"/>
              </a:rPr>
              <a:t>Павлов ,Буткевич,Кокин,</a:t>
            </a:r>
            <a:endParaRPr b="0" lang="ru-RU" sz="387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70" spc="-1" strike="noStrike">
                <a:solidFill>
                  <a:srgbClr val="000000"/>
                </a:solidFill>
                <a:latin typeface="Arial"/>
              </a:rPr>
              <a:t>Шепелев,Светиков,Лаптев,</a:t>
            </a:r>
            <a:endParaRPr b="0" lang="ru-RU" sz="387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70" spc="-1" strike="noStrike">
                <a:solidFill>
                  <a:srgbClr val="000000"/>
                </a:solidFill>
                <a:latin typeface="Arial"/>
              </a:rPr>
              <a:t>Дудченко,Кузнецов,Тарасона</a:t>
            </a:r>
            <a:endParaRPr b="0" lang="ru-RU" sz="3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8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Данные по Горячему ключу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" descr=""/>
          <p:cNvPicPr/>
          <p:nvPr/>
        </p:nvPicPr>
        <p:blipFill>
          <a:blip r:embed="rId2"/>
          <a:stretch/>
        </p:blipFill>
        <p:spPr>
          <a:xfrm>
            <a:off x="601560" y="1260000"/>
            <a:ext cx="8038080" cy="5032440"/>
          </a:xfrm>
          <a:prstGeom prst="rect">
            <a:avLst/>
          </a:prstGeom>
          <a:ln w="0">
            <a:noFill/>
          </a:ln>
        </p:spPr>
      </p:pic>
      <p:sp>
        <p:nvSpPr>
          <p:cNvPr id="18" name=""/>
          <p:cNvSpPr txBox="1"/>
          <p:nvPr/>
        </p:nvSpPr>
        <p:spPr>
          <a:xfrm>
            <a:off x="0" y="641268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fld id="{9423DEA8-EF6D-432B-B887-33E505CC757A}" type="slidenum"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457560" y="273600"/>
            <a:ext cx="8228880" cy="8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Данные по Горячему ключу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" name=""/>
          <p:cNvGraphicFramePr/>
          <p:nvPr/>
        </p:nvGraphicFramePr>
        <p:xfrm>
          <a:off x="1620000" y="2880360"/>
          <a:ext cx="5759280" cy="3239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"/>
          <p:cNvGraphicFramePr/>
          <p:nvPr/>
        </p:nvGraphicFramePr>
        <p:xfrm>
          <a:off x="1080000" y="1856520"/>
          <a:ext cx="7210080" cy="691200"/>
        </p:xfrm>
        <a:graphic>
          <a:graphicData uri="http://schemas.openxmlformats.org/drawingml/2006/table">
            <a:tbl>
              <a:tblPr/>
              <a:tblGrid>
                <a:gridCol w="1356120"/>
                <a:gridCol w="703800"/>
                <a:gridCol w="1029960"/>
                <a:gridCol w="1029960"/>
                <a:gridCol w="1029960"/>
                <a:gridCol w="1029960"/>
                <a:gridCol w="103068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оценка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количество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24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"/>
          <p:cNvSpPr txBox="1"/>
          <p:nvPr/>
        </p:nvSpPr>
        <p:spPr>
          <a:xfrm>
            <a:off x="180000" y="630000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fld id="{126217DD-B474-46B9-8800-7CA7740B9A36}" type="slidenum"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6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000000"/>
                </a:solidFill>
                <a:latin typeface="Times New Roman"/>
              </a:rPr>
              <a:t>Сравнение Краснодара и Горячего Ключа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" name=""/>
          <p:cNvGraphicFramePr/>
          <p:nvPr/>
        </p:nvGraphicFramePr>
        <p:xfrm>
          <a:off x="4320000" y="2281320"/>
          <a:ext cx="4679640" cy="275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"/>
          <p:cNvSpPr/>
          <p:nvPr/>
        </p:nvSpPr>
        <p:spPr>
          <a:xfrm>
            <a:off x="5220000" y="1620000"/>
            <a:ext cx="323964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Краснодар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6" name=""/>
          <p:cNvGraphicFramePr/>
          <p:nvPr/>
        </p:nvGraphicFramePr>
        <p:xfrm>
          <a:off x="180360" y="2281320"/>
          <a:ext cx="4679280" cy="3239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"/>
          <p:cNvSpPr/>
          <p:nvPr/>
        </p:nvSpPr>
        <p:spPr>
          <a:xfrm>
            <a:off x="720000" y="1440000"/>
            <a:ext cx="341964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Горячий Ключ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60000" y="623268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fld id="{922D0BC0-BCE2-4F67-9393-7E3130189197}" type="slidenum"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000000"/>
                </a:solidFill>
                <a:latin typeface="Times New Roman"/>
              </a:rPr>
              <a:t>Уменьшение кол-ва значений выходной переменной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" name=""/>
          <p:cNvGraphicFramePr/>
          <p:nvPr/>
        </p:nvGraphicFramePr>
        <p:xfrm>
          <a:off x="457200" y="1604520"/>
          <a:ext cx="8228880" cy="1385280"/>
        </p:xfrm>
        <a:graphic>
          <a:graphicData uri="http://schemas.openxmlformats.org/drawingml/2006/table">
            <a:tbl>
              <a:tblPr/>
              <a:tblGrid>
                <a:gridCol w="4114440"/>
                <a:gridCol w="411480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Значение переменной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Диапазон рейтинга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 (низкая)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[0;2)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 (средняя)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[2;4)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 (высокая)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[4;5]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1" name=""/>
          <p:cNvSpPr txBox="1"/>
          <p:nvPr/>
        </p:nvSpPr>
        <p:spPr>
          <a:xfrm>
            <a:off x="180000" y="612000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fld id="{C5F23D42-4E68-487A-B9A3-9556E945FC77}" type="slidenum"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Times New Roman"/>
              </a:rPr>
              <a:t>Кластерный анализ правил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2"/>
          <a:stretch/>
        </p:blipFill>
        <p:spPr>
          <a:xfrm>
            <a:off x="485280" y="813240"/>
            <a:ext cx="8154360" cy="5666400"/>
          </a:xfrm>
          <a:prstGeom prst="rect">
            <a:avLst/>
          </a:prstGeom>
          <a:ln w="0">
            <a:noFill/>
          </a:ln>
        </p:spPr>
      </p:pic>
      <p:sp>
        <p:nvSpPr>
          <p:cNvPr id="34" name=""/>
          <p:cNvSpPr txBox="1"/>
          <p:nvPr/>
        </p:nvSpPr>
        <p:spPr>
          <a:xfrm>
            <a:off x="180000" y="643068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fld id="{3A9C31EE-FE2F-4BBD-B32B-A5AFBF22E1EF}" type="slidenum"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Times New Roman"/>
              </a:rPr>
              <a:t>Таблица фин результатов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6" name=""/>
          <p:cNvGraphicFramePr/>
          <p:nvPr/>
        </p:nvGraphicFramePr>
        <p:xfrm>
          <a:off x="957600" y="680040"/>
          <a:ext cx="7742880" cy="5761800"/>
        </p:xfrm>
        <a:graphic>
          <a:graphicData uri="http://schemas.openxmlformats.org/drawingml/2006/table">
            <a:tbl>
              <a:tblPr/>
              <a:tblGrid>
                <a:gridCol w="997920"/>
                <a:gridCol w="1044000"/>
                <a:gridCol w="1020960"/>
                <a:gridCol w="1441080"/>
                <a:gridCol w="720720"/>
                <a:gridCol w="720720"/>
                <a:gridCol w="900360"/>
                <a:gridCol w="897480"/>
              </a:tblGrid>
              <a:tr h="10962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Группа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Строка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Запись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Юрлицо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ИНН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Эффективность, %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Сумма чистой прибыли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Сумма чистого убытка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8402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 макс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Вкусно — и точка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ООО "СИСТЕМА ПБО"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7710044140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100,0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45 539 415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84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 макс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223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Rostic's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ООО "ЮНИРЕСТ"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7722561551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100,0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13 334 190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62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 сред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188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Дар Пицца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ООО "ПИЦЦА КРАСНОДАР"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2311356162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100,0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601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84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 сред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217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Баблс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ООО "БАБЛС"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2721254750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100,0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82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 мин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241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Диканька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ООО "ДИКАНЬКА"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7456001807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-30,2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2 474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3 220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8402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 мин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246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Чик Чак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ООО "ЧАК-ЧАК"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1655245067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-1921,9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333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6 733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"/>
          <p:cNvSpPr txBox="1"/>
          <p:nvPr/>
        </p:nvSpPr>
        <p:spPr>
          <a:xfrm>
            <a:off x="180000" y="630540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fld id="{5BA077B0-2C13-45B6-8B31-DB195C2F85F8}" type="slidenum"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60000" y="273240"/>
            <a:ext cx="822888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Arial"/>
                <a:ea typeface="Arial"/>
              </a:rPr>
              <a:t>Финансовая проверка выборки ресторанов Краснодара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600000" y="900000"/>
            <a:ext cx="503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Строки 162-250, лист "Все Значения" | период 2023-2025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4859640" y="5400360"/>
            <a:ext cx="4121640" cy="899640"/>
          </a:xfrm>
          <a:prstGeom prst="rect">
            <a:avLst/>
          </a:prstGeom>
          <a:ln w="0">
            <a:noFill/>
          </a:ln>
        </p:spPr>
      </p:pic>
      <p:pic>
        <p:nvPicPr>
          <p:cNvPr id="41" name="" descr=""/>
          <p:cNvPicPr/>
          <p:nvPr/>
        </p:nvPicPr>
        <p:blipFill>
          <a:blip r:embed="rId3"/>
          <a:stretch/>
        </p:blipFill>
        <p:spPr>
          <a:xfrm>
            <a:off x="4859640" y="1620000"/>
            <a:ext cx="4056480" cy="3223080"/>
          </a:xfrm>
          <a:prstGeom prst="rect">
            <a:avLst/>
          </a:prstGeom>
          <a:ln w="0">
            <a:noFill/>
          </a:ln>
        </p:spPr>
      </p:pic>
      <p:sp>
        <p:nvSpPr>
          <p:cNvPr id="42" name=""/>
          <p:cNvSpPr/>
          <p:nvPr/>
        </p:nvSpPr>
        <p:spPr>
          <a:xfrm>
            <a:off x="180000" y="1260000"/>
            <a:ext cx="467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Times New Roman"/>
              </a:rPr>
              <a:t>Ход работы: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100" spc="-1" strike="noStrike">
                <a:solidFill>
                  <a:srgbClr val="000000"/>
                </a:solidFill>
                <a:latin typeface="Times New Roman"/>
                <a:ea typeface="Microsoft YaHei"/>
              </a:rPr>
              <a:t>1. Сбор исходной базы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Microsoft YaHei"/>
              </a:rPr>
              <a:t>(</a:t>
            </a:r>
            <a:r>
              <a:rPr b="0" i="1" lang="ru-RU" sz="1800" spc="-1" strike="noStrike">
                <a:solidFill>
                  <a:srgbClr val="000000"/>
                </a:solidFill>
                <a:latin typeface="Times New Roman"/>
                <a:ea typeface="Microsoft YaHei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По двум районам Краснодара собраны заведения, адреса, отзывы, рейтинг и признаки локации.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Times New Roman"/>
                <a:ea typeface="Arial"/>
              </a:rPr>
              <a:t>2. </a:t>
            </a:r>
            <a:r>
              <a:rPr b="0" lang="en-US" sz="2100" spc="-1" strike="noStrike">
                <a:solidFill>
                  <a:srgbClr val="172033"/>
                </a:solidFill>
                <a:latin typeface="Times New Roman"/>
                <a:ea typeface="Arial"/>
              </a:rPr>
              <a:t>Отбор диапазона</a:t>
            </a:r>
            <a:r>
              <a:rPr b="1" lang="en-US" sz="1800" spc="-1" strike="noStrike">
                <a:solidFill>
                  <a:srgbClr val="172033"/>
                </a:solidFill>
                <a:latin typeface="Times New Roman"/>
                <a:ea typeface="Arial"/>
              </a:rPr>
              <a:t> </a:t>
            </a:r>
            <a:r>
              <a:rPr b="0" lang="en-US" sz="1800" spc="-1" strike="noStrike">
                <a:solidFill>
                  <a:srgbClr val="172033"/>
                </a:solidFill>
                <a:latin typeface="Arial"/>
                <a:ea typeface="Arial"/>
              </a:rPr>
              <a:t>(</a:t>
            </a:r>
            <a:r>
              <a:rPr b="0" i="1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 Из строк 162-250 выбраны 40 записей для дальнейшей финансовой проверки.</a:t>
            </a:r>
            <a:r>
              <a:rPr b="0" lang="en-US" sz="1800" spc="-1" strike="noStrike">
                <a:solidFill>
                  <a:srgbClr val="172033"/>
                </a:solidFill>
                <a:latin typeface="Arial"/>
                <a:ea typeface="Arial"/>
              </a:rPr>
              <a:t> 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72033"/>
                </a:solidFill>
                <a:latin typeface="Times New Roman"/>
                <a:ea typeface="Arial"/>
              </a:rPr>
              <a:t>3. Сопоставление с юрлицами</a:t>
            </a:r>
            <a:r>
              <a:rPr b="1" lang="en-US" sz="1200" spc="-1" strike="noStrike">
                <a:solidFill>
                  <a:srgbClr val="172033"/>
                </a:solidFill>
                <a:latin typeface="Arial"/>
                <a:ea typeface="Arial"/>
              </a:rPr>
              <a:t> </a:t>
            </a:r>
            <a:r>
              <a:rPr b="0" lang="en-US" sz="1800" spc="-1" strike="noStrike">
                <a:solidFill>
                  <a:srgbClr val="172033"/>
                </a:solidFill>
                <a:latin typeface="Arial"/>
                <a:ea typeface="Arial"/>
              </a:rPr>
              <a:t>(</a:t>
            </a:r>
            <a:r>
              <a:rPr b="1" lang="en-US" sz="1800" spc="-1" strike="noStrike">
                <a:solidFill>
                  <a:srgbClr val="172033"/>
                </a:solidFill>
                <a:latin typeface="Arial"/>
                <a:ea typeface="Arial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Для заведений найдены ИНН и годовая отчетность БФО ФНС за 2023-2025. </a:t>
            </a:r>
            <a:r>
              <a:rPr b="0" lang="en-US" sz="1800" spc="-1" strike="noStrike">
                <a:solidFill>
                  <a:srgbClr val="172033"/>
                </a:solidFill>
                <a:latin typeface="Arial"/>
                <a:ea typeface="Arial"/>
              </a:rPr>
              <a:t>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72033"/>
                </a:solidFill>
                <a:latin typeface="Arial"/>
                <a:ea typeface="Arial"/>
              </a:rPr>
              <a:t>4</a:t>
            </a:r>
            <a:r>
              <a:rPr b="0" lang="en-US" sz="1200" spc="-1" strike="noStrike">
                <a:solidFill>
                  <a:srgbClr val="172033"/>
                </a:solidFill>
                <a:latin typeface="Arial"/>
                <a:ea typeface="Arial"/>
              </a:rPr>
              <a:t>.</a:t>
            </a: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 </a:t>
            </a:r>
            <a:r>
              <a:rPr b="0" lang="en-US" sz="2100" spc="-1" strike="noStrike">
                <a:solidFill>
                  <a:srgbClr val="000000"/>
                </a:solidFill>
                <a:latin typeface="Times New Roman"/>
                <a:ea typeface="Arial"/>
              </a:rPr>
              <a:t>Расчет эффективности</a:t>
            </a:r>
            <a:r>
              <a:rPr b="1" lang="en-US" sz="1200" spc="-1" strike="noStrike">
                <a:solidFill>
                  <a:srgbClr val="172033"/>
                </a:solidFill>
                <a:latin typeface="Arial"/>
                <a:ea typeface="Arial"/>
              </a:rPr>
              <a:t> </a:t>
            </a:r>
            <a:r>
              <a:rPr b="0" lang="en-US" sz="1800" spc="-1" strike="noStrike">
                <a:solidFill>
                  <a:srgbClr val="172033"/>
                </a:solidFill>
                <a:latin typeface="Times New Roman"/>
                <a:ea typeface="Arial"/>
              </a:rPr>
              <a:t>(</a:t>
            </a:r>
            <a:r>
              <a:rPr b="1" i="1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Показатель рассчитан по формуле: ((прибыль - убыток) / прибыль) x 100.</a:t>
            </a:r>
            <a:r>
              <a:rPr b="1" lang="en-US" sz="1800" spc="-1" strike="noStrike">
                <a:solidFill>
                  <a:srgbClr val="172033"/>
                </a:solidFill>
                <a:latin typeface="Arial"/>
                <a:ea typeface="Arial"/>
              </a:rPr>
              <a:t> </a:t>
            </a:r>
            <a:r>
              <a:rPr b="0" lang="en-US" sz="1800" spc="-1" strike="noStrike">
                <a:solidFill>
                  <a:srgbClr val="172033"/>
                </a:solidFill>
                <a:latin typeface="Times New Roman"/>
                <a:ea typeface="Arial"/>
              </a:rPr>
              <a:t>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34600" y="605268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fld id="{5360BE5D-4237-437B-B207-2C7F3820215A}" type="slidenum"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364680" y="273600"/>
            <a:ext cx="822888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Arial"/>
                <a:ea typeface="Arial"/>
              </a:rPr>
              <a:t>Финансовая проверка выборки ресторанов Краснодара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5" name=""/>
          <p:cNvGraphicFramePr/>
          <p:nvPr/>
        </p:nvGraphicFramePr>
        <p:xfrm>
          <a:off x="256680" y="912240"/>
          <a:ext cx="5142960" cy="304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6" name=""/>
          <p:cNvGraphicFramePr/>
          <p:nvPr/>
        </p:nvGraphicFramePr>
        <p:xfrm>
          <a:off x="3600000" y="4140000"/>
          <a:ext cx="5502960" cy="250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"/>
          <p:cNvSpPr txBox="1"/>
          <p:nvPr/>
        </p:nvSpPr>
        <p:spPr>
          <a:xfrm>
            <a:off x="174600" y="605268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fld id="{4A200D93-156D-417F-9D95-9F60B1CEC270}" type="slidenum"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11120" y="2090880"/>
            <a:ext cx="8228880" cy="15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Спасибо за Внимание!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LibreOffice/7.6.7.2$Windows_X86_64 LibreOffice_project/dd47e4b30cb7dab30588d6c79c651f218165e3c5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2026-06-13T08:31:27Z</dcterms:created>
  <dc:creator/>
  <dc:description/>
  <dc:language>ru-RU</dc:language>
  <cp:lastModifiedBy/>
  <dcterms:modified xsi:type="dcterms:W3CDTF">2026-06-18T19:27:13Z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