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31e44c5a124409" /><Relationship Type="http://schemas.openxmlformats.org/officeDocument/2006/relationships/extended-properties" Target="/docProps/app.xml" Id="R537a6771d784430e" /><Relationship Type="http://schemas.openxmlformats.org/officeDocument/2006/relationships/officeDocument" Target="/ppt/presentation.xml" Id="Rc103fb00428640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b13785ebec490e"/>
  </p:sldMasterIdLst>
  <p:notesMasterIdLst>
    <p:notesMasterId xmlns:r="http://schemas.openxmlformats.org/officeDocument/2006/relationships" r:id="R724ffc6d79944c50"/>
  </p:notesMasterIdLst>
  <p:sldIdLst>
    <p:sldId xmlns:r="http://schemas.openxmlformats.org/officeDocument/2006/relationships" id="256" r:id="R46fd519516d24a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5d012a6c8492c" /><Relationship Type="http://schemas.openxmlformats.org/officeDocument/2006/relationships/slideMaster" Target="/ppt/slideMasters/slideMaster1.xml" Id="R42b13785ebec490e" /><Relationship Type="http://schemas.openxmlformats.org/officeDocument/2006/relationships/notesMaster" Target="/ppt/notesMasters/notesMaster1.xml" Id="R724ffc6d79944c50" /><Relationship Type="http://schemas.openxmlformats.org/officeDocument/2006/relationships/presProps" Target="/ppt/presProps.xml" Id="Rb5f5ac0e4e6d4095" /><Relationship Type="http://schemas.openxmlformats.org/officeDocument/2006/relationships/viewProps" Target="/ppt/viewProps.xml" Id="Rec01fca0e0bd41a4" /><Relationship Type="http://schemas.openxmlformats.org/officeDocument/2006/relationships/tableStyles" Target="/ppt/tableStyles.xml" Id="Rbe246011632c4ec1" /><Relationship Type="http://schemas.openxmlformats.org/officeDocument/2006/relationships/slide" Target="/ppt/slides/slide1.xml" Id="R46fd519516d2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eb719e46a4a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c6071c605483e" /><Relationship Type="http://schemas.openxmlformats.org/officeDocument/2006/relationships/notesMaster" Target="/ppt/notesMasters/notesMaster1.xml" Id="R574257f7cb2e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Краткий отчет по проделанной работе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работе я рассматривал заведения общественного питания в Краснодаре. Сначала была собрана информация по двум районам города: по открытым картам и карточкам заведений я выписал в исходную таблицу DannyePoVykhodOtsenkam около пятидесяти найденных объектов. В листе "Все Значения" по каждому заведению были зафиксированы основные признаки: название, адрес, расположение в торговом центре или отдельно, тип парковки, вид входа, этаж, количество конкурентов рядом, средняя оценка и количество отзывов.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Дальше для финансовой части я взял конкретный диапазон: строки с 162 по 250 на листе "Все Значения". Из него были выбраны 40 записей. Это позволило оставить выборку достаточно широкой, но при этом вручную проверить сопоставление заведений с юридическими лицами. Для каждой записи я пытался найти юрлицо и ИНН, а затем подтянуть доступную бухгалтерскую отчетность за 2023, 2024 и 2025 годы. В отдельную таблицу были занесены выручка, валовая прибыль, чистая прибыль, чистый убыток и данные по персоналу. Если надежного источника по показателю не было, ставился прочерк.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 этого был рассчитан финансовый показатель эффективности по формуле: чистая прибыль минус чистый убыток, деленное на чистую прибыль, умноженное на 100 процентов. Затем все записи были отсортированы по эффективности, и из них был выбран топ-6: два максимальных значения, два средних и два минимальных. Топ-6 выбирался по уникальным ИНН, чтобы одна сеть не заняла сразу несколько мест только из-за разных адресов.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максимальную группу вошли "Вкусно - и точка" и Rostic's, в среднюю - "Дар Пицца" и "Баблс", а в минимальную - "Диканька" и "Чик Чак". Для этих шести записей была сделана отдельная детализация по годам и построены графики по доступным финансовым показателям. Поквартальные данные в открытой отчетности ФНС для выбранных непубличных ООО не раскрываются, поэтому графики построены по годовым данным за 2023-2025 годы.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итоге получилась отдельная итоговая книга, где можно проследить весь путь работы: от исходного диапазона и выбранных 40 записей до расчета эффективности, отбора топ-6, источников и визуализации.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b68e3209946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dd8f54a43a4977" /><Relationship Type="http://schemas.openxmlformats.org/officeDocument/2006/relationships/slideLayout" Target="/ppt/slideLayouts/slideLayout1.xml" Id="Rf6edd7a18e9a4b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edd7a18e9a4b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a145e68c14444" /><Relationship Type="http://schemas.openxmlformats.org/officeDocument/2006/relationships/image" Target="/ppt/media/image.jpeg" Id="Rc661da81ab864632" /><Relationship Type="http://schemas.openxmlformats.org/officeDocument/2006/relationships/notesSlide" Target="/ppt/notesSlides/notesSlide1.xml" Id="Rfd25d122cb6941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707EC0-EC1F-4234-97AA-822F23A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0DC87-B541-4381-81B9-3E5C3C4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265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2FDA5-E87E-41E9-A55C-0547CBA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2CD2C-8641-4163-B0BC-7D32C357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>
            <a:noFill/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1da81ab864632"/>
          <a:stretch xmlns:a="http://schemas.openxmlformats.org/drawingml/2006/main"/>
        </p:blipFill>
        <p:spPr>
          <a:xfrm xmlns:a="http://schemas.openxmlformats.org/drawingml/2006/main">
            <a:off x="687790" y="266700"/>
            <a:ext cx="872319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A5202-98A9-4D0D-BD22-D7E1E72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"/>
            <a:ext cx="481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КУБАНСКИЙ ГОСУДАРСТВЕННЫЙ УНИВЕРСИТЕТ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C1ABF-A433-4405-AAD7-884604EA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ФКТиПМ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0D31A-59E7-4A70-A528-BD0929D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09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D8E8F5"/>
                </a:solidFill>
                <a:latin typeface="Arial"/>
                <a:ea typeface="Arial"/>
                <a:cs typeface="Arial"/>
              </a:defRPr>
            </a:pPr>
            <a:r>
              <a:t>Факультет компьютерных технологий и прикладной математики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154D7-0690-437E-A4C2-85EBB2F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4648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Финансовая проверка выборки ресторанов Краснодара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D83E8-4893-4FF8-8755-0DE4B5B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620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D8E8F5"/>
                </a:solidFill>
                <a:latin typeface="Arial"/>
                <a:ea typeface="Arial"/>
                <a:cs typeface="Arial"/>
              </a:defRPr>
            </a:pPr>
            <a:r>
              <a:t>Строки 162-250, лист "Все Значения" | период 2023-2025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C536D-C011-4271-86B5-882D046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4AD91-FDD1-4A5E-8EC2-9778425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5F320-6930-4987-96CD-FE425FE4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BC305-BE63-46AA-8422-086B7BDC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записей в выборке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5D26E-FA6F-4D9B-A317-C523988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52600"/>
            <a:ext cx="1733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32A82-F7D4-476C-A90D-AD8359A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526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77E26-B401-4D5F-AC32-D84B7EC4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764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D1B79-CECC-47F0-9FDD-87336E1B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193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с расчетом эффективности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978CC-B57C-4A5F-BB11-F6177C61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752600"/>
            <a:ext cx="1362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58028-3E62-48A3-ADDA-F26828EA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7526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3D264-16D4-4AF7-A638-464D2B9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76425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268DB-13C8-4251-893B-8A5D919A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1038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вынесено в топ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16E95-FE7A-4F13-B6B4-362AA6B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3F1BF-1B92-4BF6-8336-06D19CF6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Ход работы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7BACF-1BA9-480A-8FE6-4867EF8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42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7CBB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C2693-36C8-41DD-A383-2B97FC19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7662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A7FA3-79A8-4553-8F68-D2AE792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Сбор исходной базы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482B5-94F7-4AD0-9C1C-7EBC1C9E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099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По двум районам Краснодара собраны заведения, адреса, отзывы, рейтинг и признаки локации.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8B3C1-80F5-40CC-8C18-D42A42BB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342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7CB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5AE59-83AC-4E84-A522-90C1E553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B7A1DC-865B-4274-A795-078339F6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862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Отбор диапазона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D2090-5656-4FC0-9D22-0AED9FF1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2435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Из строк 162-250 выбраны 40 записей для дальнейшей финансовой проверки.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651094-9924-4C33-BAFC-92EC302B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342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7CB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DB15E-4C44-43C1-B3A5-B3FCDA40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05375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29480-C676-4170-8835-D76E8323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Сопоставление с юрлицами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5B0C6-F59F-427D-9555-D6ADD6DC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3872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Для заведений найдены ИНН и годовая отчетность БФО ФНС за 2023-2025.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E29357-3E74-49C1-B6FB-B01AE96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342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7CB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435618-4380-45EF-A1FD-F03FC961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41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EDD19-77B1-497A-8ECE-DD20D57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149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Расчет эффективности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02EA7-E965-4D17-8356-A627780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5310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Показатель рассчитан по формуле: ((прибыль - убыток) / прибыль) x 100.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5644BE-BA7B-4C33-A660-A3452B87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5626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34E33E-D572-40E4-B59D-213A8DA3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FEB4B6-C43D-4155-80EB-16BDC23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Топ-6 по эффективности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AB6DD9-8B53-4EDD-9FEB-2B942EF9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Выбраны 2 максимальных, 2 средних и 2 минимальных значения. Дубли сетей отсечены по уникальному ИНН.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4465C8-7137-4E0C-A407-8259AAAB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43225"/>
            <a:ext cx="470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348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DDFDB0-C745-413B-B731-24096804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Группа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2AE18E-54DC-42AA-8967-6E9E682D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Стр.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369A02-F92B-4793-A5CF-78217432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Заведение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EF516F-2C4B-4B22-BF92-0FF9C539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09900"/>
            <a:ext cx="923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Эффект., 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E61F15-E1EC-4FDF-AE64-AAAACB0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62325"/>
            <a:ext cx="4705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C"/>
          </a:solidFill>
          <a:ln xmlns:a="http://schemas.openxmlformats.org/drawingml/2006/main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CFAC7B-3EF6-4927-9874-1C09EB9B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F301C1-9965-494A-BD4B-3B4A55DD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 макс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02350A-B56C-4C87-8DF7-460278C1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385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187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9BFA3D-1EB8-42DB-85B0-F9057735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385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Вкусно - и точка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FDFC31-ED5B-4863-BB34-1550213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385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100%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85D660-7105-4913-AE06-8E4FA7F9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705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3BE408-275B-4BE7-91C2-5D59690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242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CBB"/>
          </a:solidFill>
          <a:ln xmlns:a="http://schemas.openxmlformats.org/drawingml/2006/main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CE8E84-867E-48A6-9DAE-268C678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 макс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A7EB74-AEC8-4CD5-BB5F-B15B9483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71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223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AC4D4F-688E-45B3-8F0E-79D1AD7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71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Rostic's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48090D-3BDD-4567-A5DD-29A9BC3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719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100%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5439A6-00A8-48BA-9A20-00A49EA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29075"/>
            <a:ext cx="4705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C"/>
          </a:solidFill>
          <a:ln xmlns:a="http://schemas.openxmlformats.org/drawingml/2006/main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474DF9-DF91-4B60-887D-22838EB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94"/>
          </a:solidFill>
          <a:ln xmlns:a="http://schemas.openxmlformats.org/drawingml/2006/main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4DCFBE-D389-419D-9A8F-AD831843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052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 сред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05C464-9829-4572-8777-62F21BCF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188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E01C9C-9359-40F6-8C98-FF46553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052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Дар Пицца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7402DC-3F84-4620-96A2-D7C5B87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052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100%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54D785-C8F4-48EA-BA05-F766DA3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705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F4BA1A-18E4-467B-A312-526C17E8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910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D94"/>
          </a:solidFill>
          <a:ln xmlns:a="http://schemas.openxmlformats.org/drawingml/2006/main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5A0804-8D42-4F3F-A70B-135328EC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 сред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DEE8CA-4446-4D38-A1B9-4FBBD6E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217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4733CC-6565-42CD-ADAA-B52C37BC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Баблс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CA04E5-901B-495D-8C33-A953F55C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386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003265"/>
                </a:solidFill>
                <a:latin typeface="Arial"/>
                <a:ea typeface="Arial"/>
                <a:cs typeface="Arial"/>
              </a:defRPr>
            </a:pPr>
            <a:r>
              <a:t>100%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CC7134-3B19-4441-AE00-20146BCE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4705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4FC"/>
          </a:solidFill>
          <a:ln xmlns:a="http://schemas.openxmlformats.org/drawingml/2006/main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7FF91C-3810-4C24-A2DD-0CBB72AC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244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1E1E"/>
          </a:solidFill>
          <a:ln xmlns:a="http://schemas.openxmlformats.org/drawingml/2006/main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786FA0F-A18A-468D-9DC1-B5E54EE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 мин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8F9079-515D-4972-BFD7-27CDB2E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720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241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C4353E6-7A30-400C-827D-FC7A204E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720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Диканька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5483A63-799D-4A92-B060-042C69D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720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BD1E1E"/>
                </a:solidFill>
                <a:latin typeface="Arial"/>
                <a:ea typeface="Arial"/>
                <a:cs typeface="Arial"/>
              </a:defRPr>
            </a:pPr>
            <a:r>
              <a:t>-30,2%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527037-125B-4DA3-A000-A56D35CB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4705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2F2CD9-2F52-4EFE-BCD4-42739650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577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1E1E"/>
          </a:solidFill>
          <a:ln xmlns:a="http://schemas.openxmlformats.org/drawingml/2006/main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C1C1F4-A03E-44BF-8C4E-9FA5F543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 мин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CCA6D94-73E3-47DC-B00B-6647E3C3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054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246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20D6760-D195-45E7-8603-6BC6362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054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t>Чик Чак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C88F9A-4E47-4DF5-9BCB-F75C24E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054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19050" tIns="0" rIns="19050" bIns="0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BD1E1E"/>
                </a:solidFill>
                <a:latin typeface="Arial"/>
                <a:ea typeface="Arial"/>
                <a:cs typeface="Arial"/>
              </a:defRPr>
            </a:pPr>
            <a:r>
              <a:t>-1921,9%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9FBD78-6C00-4AE3-875F-44B98487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81625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8"/>
          </a:solidFill>
          <a:ln xmlns:a="http://schemas.openxmlformats.org/drawingml/2006/main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6B9CED-4B3A-44C2-80C4-3DADFC7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6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Графики построены по годовым данным: квартальная отчетность в открытой БФО ФНС для выбранных непубличных ООО не раскрывается.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15D8109-9D40-45C8-AD67-7A4CC53D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85B7AD-9B62-4FEE-A89D-1BBDB25D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00825"/>
            <a:ext cx="781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Источник визуального стиля: официальный сайт КубГУ; финансовая отчетность: БФО ФНС России.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E381FD-AAE8-4BD0-824C-D6BE1633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0825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C6B7C"/>
                </a:solidFill>
                <a:latin typeface="Arial"/>
                <a:ea typeface="Arial"/>
                <a:cs typeface="Arial"/>
              </a:defRPr>
            </a:pPr>
            <a:r>
              <a:t>1 / 1</a:t>
            </a:r>
          </a:p>
        </p:txBody>
      </p:sp>
    </p:spTree>
    <p:extLst>
      <p:ext uri="{BB962C8B-B14F-4D97-AF65-F5344CB8AC3E}">
        <p14:creationId xmlns:p14="http://schemas.microsoft.com/office/powerpoint/2010/main" val="767683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2026-06-10T21:00:32.1130000Z</dcterms:created>
  <dcterms:modified xsi:type="dcterms:W3CDTF">2026-06-10T21:00:32.1130000Z</dcterms:modified>
</coreProperties>
</file>